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60" r:id="rId2"/>
    <p:sldId id="4421" r:id="rId3"/>
    <p:sldId id="4422" r:id="rId4"/>
    <p:sldId id="4423" r:id="rId5"/>
    <p:sldId id="4424" r:id="rId6"/>
    <p:sldId id="4425" r:id="rId7"/>
    <p:sldId id="4426" r:id="rId8"/>
    <p:sldId id="4427" r:id="rId9"/>
    <p:sldId id="4428" r:id="rId10"/>
    <p:sldId id="4429" r:id="rId11"/>
    <p:sldId id="4430" r:id="rId12"/>
    <p:sldId id="4431" r:id="rId13"/>
    <p:sldId id="4432" r:id="rId14"/>
    <p:sldId id="4433" r:id="rId15"/>
    <p:sldId id="4434" r:id="rId16"/>
    <p:sldId id="4437" r:id="rId17"/>
    <p:sldId id="4439" r:id="rId18"/>
    <p:sldId id="4445" r:id="rId19"/>
    <p:sldId id="4441" r:id="rId20"/>
    <p:sldId id="4444" r:id="rId21"/>
    <p:sldId id="444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87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4" d="100"/>
          <a:sy n="74" d="100"/>
        </p:scale>
        <p:origin x="104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F83ABB-A641-41B3-815B-0BF716117969}" type="datetimeFigureOut">
              <a:rPr lang="en-US" smtClean="0"/>
              <a:t>2/10/2026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464667-E269-4945-B7C0-AD99F8954A9B}" type="slidenum">
              <a:rPr lang="en-US" smtClean="0"/>
              <a:t>‹#›</a:t>
            </a:fld>
            <a:endParaRPr lang="en-US"/>
          </a:p>
        </p:txBody>
      </p:sp>
    </p:spTree>
    <p:extLst>
      <p:ext uri="{BB962C8B-B14F-4D97-AF65-F5344CB8AC3E}">
        <p14:creationId xmlns:p14="http://schemas.microsoft.com/office/powerpoint/2010/main" val="3346891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7464667-E269-4945-B7C0-AD99F8954A9B}" type="slidenum">
              <a:rPr lang="en-US" smtClean="0"/>
              <a:t>20</a:t>
            </a:fld>
            <a:endParaRPr lang="en-US"/>
          </a:p>
        </p:txBody>
      </p:sp>
    </p:spTree>
    <p:extLst>
      <p:ext uri="{BB962C8B-B14F-4D97-AF65-F5344CB8AC3E}">
        <p14:creationId xmlns:p14="http://schemas.microsoft.com/office/powerpoint/2010/main" val="14246749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2225B-E41B-77C0-1A23-7FE91583AB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2A84B7F-BF54-53DE-5ED7-2CDED8A4B9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CD18E42-7938-EBF6-0BBB-C03E98259DAE}"/>
              </a:ext>
            </a:extLst>
          </p:cNvPr>
          <p:cNvSpPr>
            <a:spLocks noGrp="1"/>
          </p:cNvSpPr>
          <p:nvPr>
            <p:ph type="dt" sz="half" idx="10"/>
          </p:nvPr>
        </p:nvSpPr>
        <p:spPr/>
        <p:txBody>
          <a:bodyPr/>
          <a:lstStyle/>
          <a:p>
            <a:fld id="{D66C86BF-26DF-47F2-BBA6-FB99F1E1025C}" type="datetimeFigureOut">
              <a:rPr lang="en-US" smtClean="0"/>
              <a:t>2/10/2026</a:t>
            </a:fld>
            <a:endParaRPr lang="en-US"/>
          </a:p>
        </p:txBody>
      </p:sp>
      <p:sp>
        <p:nvSpPr>
          <p:cNvPr id="5" name="Footer Placeholder 4">
            <a:extLst>
              <a:ext uri="{FF2B5EF4-FFF2-40B4-BE49-F238E27FC236}">
                <a16:creationId xmlns:a16="http://schemas.microsoft.com/office/drawing/2014/main" id="{9274C66D-7C77-1BC2-E297-5581F607B8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C71FE2-01D7-8CFA-F772-2A12DADA9511}"/>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34189764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69414-E7DE-B18D-3123-DBD0283DAB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9AEC70-B92A-CC7C-576E-A961A566DF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40CFBF-3986-2ECA-DC6E-B0EB5EEAE220}"/>
              </a:ext>
            </a:extLst>
          </p:cNvPr>
          <p:cNvSpPr>
            <a:spLocks noGrp="1"/>
          </p:cNvSpPr>
          <p:nvPr>
            <p:ph type="dt" sz="half" idx="10"/>
          </p:nvPr>
        </p:nvSpPr>
        <p:spPr/>
        <p:txBody>
          <a:bodyPr/>
          <a:lstStyle/>
          <a:p>
            <a:fld id="{D66C86BF-26DF-47F2-BBA6-FB99F1E1025C}" type="datetimeFigureOut">
              <a:rPr lang="en-US" smtClean="0"/>
              <a:t>2/10/2026</a:t>
            </a:fld>
            <a:endParaRPr lang="en-US"/>
          </a:p>
        </p:txBody>
      </p:sp>
      <p:sp>
        <p:nvSpPr>
          <p:cNvPr id="5" name="Footer Placeholder 4">
            <a:extLst>
              <a:ext uri="{FF2B5EF4-FFF2-40B4-BE49-F238E27FC236}">
                <a16:creationId xmlns:a16="http://schemas.microsoft.com/office/drawing/2014/main" id="{BB5622A7-D018-3314-6712-AC0A3E326F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DF858B-9E65-33C3-1330-DDC559B7F2B8}"/>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111714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99EF2-BE12-339C-53A6-D7F37ED5DF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95EA9B6-8FA8-149E-9646-FB301CFB14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0325791-C68A-6622-2CC5-3C0B283338D8}"/>
              </a:ext>
            </a:extLst>
          </p:cNvPr>
          <p:cNvSpPr>
            <a:spLocks noGrp="1"/>
          </p:cNvSpPr>
          <p:nvPr>
            <p:ph type="dt" sz="half" idx="10"/>
          </p:nvPr>
        </p:nvSpPr>
        <p:spPr/>
        <p:txBody>
          <a:bodyPr/>
          <a:lstStyle/>
          <a:p>
            <a:fld id="{D66C86BF-26DF-47F2-BBA6-FB99F1E1025C}" type="datetimeFigureOut">
              <a:rPr lang="en-US" smtClean="0"/>
              <a:t>2/10/2026</a:t>
            </a:fld>
            <a:endParaRPr lang="en-US"/>
          </a:p>
        </p:txBody>
      </p:sp>
      <p:sp>
        <p:nvSpPr>
          <p:cNvPr id="5" name="Footer Placeholder 4">
            <a:extLst>
              <a:ext uri="{FF2B5EF4-FFF2-40B4-BE49-F238E27FC236}">
                <a16:creationId xmlns:a16="http://schemas.microsoft.com/office/drawing/2014/main" id="{797CB1C5-90B9-0823-9015-AF5F09CF9B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39B8B6-BAA6-240F-60BE-518B08A68FF3}"/>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12631014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E3121-A2A6-067F-9BB5-431330CD0C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B61458-6F42-1FC6-02A5-B26BB0448D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40A9E45-D816-7EFD-3CAA-178E16FA009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34DE17-8AF8-1452-3C2B-1E8AC11C05C7}"/>
              </a:ext>
            </a:extLst>
          </p:cNvPr>
          <p:cNvSpPr>
            <a:spLocks noGrp="1"/>
          </p:cNvSpPr>
          <p:nvPr>
            <p:ph type="dt" sz="half" idx="10"/>
          </p:nvPr>
        </p:nvSpPr>
        <p:spPr/>
        <p:txBody>
          <a:bodyPr/>
          <a:lstStyle/>
          <a:p>
            <a:fld id="{D66C86BF-26DF-47F2-BBA6-FB99F1E1025C}" type="datetimeFigureOut">
              <a:rPr lang="en-US" smtClean="0"/>
              <a:t>2/10/2026</a:t>
            </a:fld>
            <a:endParaRPr lang="en-US"/>
          </a:p>
        </p:txBody>
      </p:sp>
      <p:sp>
        <p:nvSpPr>
          <p:cNvPr id="6" name="Footer Placeholder 5">
            <a:extLst>
              <a:ext uri="{FF2B5EF4-FFF2-40B4-BE49-F238E27FC236}">
                <a16:creationId xmlns:a16="http://schemas.microsoft.com/office/drawing/2014/main" id="{F8F04EE6-8A95-F57F-A192-3DE3AA4138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37B0C8-4507-0579-A941-6A255E92B46F}"/>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7318839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D41E2-A077-4FE6-C0D3-E53AD769299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68D9F13-A5D4-37A3-1493-299424981A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5EE514-EB19-276A-D5A5-AD3B452852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4ECFBA-4BCE-DB10-1A82-A2D64F058E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FB50E7-10C2-3309-2CDC-0F66334ED71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91554FF-26AD-988B-1BE6-17295ED2C712}"/>
              </a:ext>
            </a:extLst>
          </p:cNvPr>
          <p:cNvSpPr>
            <a:spLocks noGrp="1"/>
          </p:cNvSpPr>
          <p:nvPr>
            <p:ph type="dt" sz="half" idx="10"/>
          </p:nvPr>
        </p:nvSpPr>
        <p:spPr/>
        <p:txBody>
          <a:bodyPr/>
          <a:lstStyle/>
          <a:p>
            <a:fld id="{D66C86BF-26DF-47F2-BBA6-FB99F1E1025C}" type="datetimeFigureOut">
              <a:rPr lang="en-US" smtClean="0"/>
              <a:t>2/10/2026</a:t>
            </a:fld>
            <a:endParaRPr lang="en-US"/>
          </a:p>
        </p:txBody>
      </p:sp>
      <p:sp>
        <p:nvSpPr>
          <p:cNvPr id="8" name="Footer Placeholder 7">
            <a:extLst>
              <a:ext uri="{FF2B5EF4-FFF2-40B4-BE49-F238E27FC236}">
                <a16:creationId xmlns:a16="http://schemas.microsoft.com/office/drawing/2014/main" id="{62EB7DB9-3BFA-EEC0-380B-FF6C9131A6B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B18BED0-2F21-3460-79B8-7290A76A4675}"/>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34470784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70D88-D9A6-E2BA-4D07-31B2E1E8C58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79C88D8-4119-A0E3-1E19-520074B60AB6}"/>
              </a:ext>
            </a:extLst>
          </p:cNvPr>
          <p:cNvSpPr>
            <a:spLocks noGrp="1"/>
          </p:cNvSpPr>
          <p:nvPr>
            <p:ph type="dt" sz="half" idx="10"/>
          </p:nvPr>
        </p:nvSpPr>
        <p:spPr/>
        <p:txBody>
          <a:bodyPr/>
          <a:lstStyle/>
          <a:p>
            <a:fld id="{D66C86BF-26DF-47F2-BBA6-FB99F1E1025C}" type="datetimeFigureOut">
              <a:rPr lang="en-US" smtClean="0"/>
              <a:t>2/10/2026</a:t>
            </a:fld>
            <a:endParaRPr lang="en-US"/>
          </a:p>
        </p:txBody>
      </p:sp>
      <p:sp>
        <p:nvSpPr>
          <p:cNvPr id="4" name="Footer Placeholder 3">
            <a:extLst>
              <a:ext uri="{FF2B5EF4-FFF2-40B4-BE49-F238E27FC236}">
                <a16:creationId xmlns:a16="http://schemas.microsoft.com/office/drawing/2014/main" id="{4EBD6728-10D0-DD4F-070F-D8887DC4079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41F0AF4-0EB8-E3C6-BC9D-0F225B0D6689}"/>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31379138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6305AF-CB28-6234-0989-07022337F2C8}"/>
              </a:ext>
            </a:extLst>
          </p:cNvPr>
          <p:cNvSpPr>
            <a:spLocks noGrp="1"/>
          </p:cNvSpPr>
          <p:nvPr>
            <p:ph type="dt" sz="half" idx="10"/>
          </p:nvPr>
        </p:nvSpPr>
        <p:spPr/>
        <p:txBody>
          <a:bodyPr/>
          <a:lstStyle/>
          <a:p>
            <a:fld id="{D66C86BF-26DF-47F2-BBA6-FB99F1E1025C}" type="datetimeFigureOut">
              <a:rPr lang="en-US" smtClean="0"/>
              <a:t>2/10/2026</a:t>
            </a:fld>
            <a:endParaRPr lang="en-US"/>
          </a:p>
        </p:txBody>
      </p:sp>
      <p:sp>
        <p:nvSpPr>
          <p:cNvPr id="3" name="Footer Placeholder 2">
            <a:extLst>
              <a:ext uri="{FF2B5EF4-FFF2-40B4-BE49-F238E27FC236}">
                <a16:creationId xmlns:a16="http://schemas.microsoft.com/office/drawing/2014/main" id="{F25B88D4-A6C0-E1B7-8994-A86076DAC3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02BBE91-403E-73E0-6DB4-5910441B780C}"/>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2957680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51ACB-DC8B-620D-E3BF-7FA852E0A2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CC1B764-533F-1B5D-0611-138F699344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8B5571B-161E-E09A-5698-4A40CFD312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D211E9-C5AE-278A-0394-D5A3F4277B48}"/>
              </a:ext>
            </a:extLst>
          </p:cNvPr>
          <p:cNvSpPr>
            <a:spLocks noGrp="1"/>
          </p:cNvSpPr>
          <p:nvPr>
            <p:ph type="dt" sz="half" idx="10"/>
          </p:nvPr>
        </p:nvSpPr>
        <p:spPr/>
        <p:txBody>
          <a:bodyPr/>
          <a:lstStyle/>
          <a:p>
            <a:fld id="{D66C86BF-26DF-47F2-BBA6-FB99F1E1025C}" type="datetimeFigureOut">
              <a:rPr lang="en-US" smtClean="0"/>
              <a:t>2/10/2026</a:t>
            </a:fld>
            <a:endParaRPr lang="en-US"/>
          </a:p>
        </p:txBody>
      </p:sp>
      <p:sp>
        <p:nvSpPr>
          <p:cNvPr id="6" name="Footer Placeholder 5">
            <a:extLst>
              <a:ext uri="{FF2B5EF4-FFF2-40B4-BE49-F238E27FC236}">
                <a16:creationId xmlns:a16="http://schemas.microsoft.com/office/drawing/2014/main" id="{437A9B3E-94F2-61BE-DDC5-42C0513840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552E40-E8E1-BD3E-81E3-532D7B29B082}"/>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2672400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F0294-46E3-230A-33FB-B650A56B89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2C59121-E297-856F-8ED2-F9B862BEEC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B44B73E-5B9E-91E2-5353-C491A0CF95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24E462-7BB8-F752-941C-B91D00225E13}"/>
              </a:ext>
            </a:extLst>
          </p:cNvPr>
          <p:cNvSpPr>
            <a:spLocks noGrp="1"/>
          </p:cNvSpPr>
          <p:nvPr>
            <p:ph type="dt" sz="half" idx="10"/>
          </p:nvPr>
        </p:nvSpPr>
        <p:spPr/>
        <p:txBody>
          <a:bodyPr/>
          <a:lstStyle/>
          <a:p>
            <a:fld id="{D66C86BF-26DF-47F2-BBA6-FB99F1E1025C}" type="datetimeFigureOut">
              <a:rPr lang="en-US" smtClean="0"/>
              <a:t>2/10/2026</a:t>
            </a:fld>
            <a:endParaRPr lang="en-US"/>
          </a:p>
        </p:txBody>
      </p:sp>
      <p:sp>
        <p:nvSpPr>
          <p:cNvPr id="6" name="Footer Placeholder 5">
            <a:extLst>
              <a:ext uri="{FF2B5EF4-FFF2-40B4-BE49-F238E27FC236}">
                <a16:creationId xmlns:a16="http://schemas.microsoft.com/office/drawing/2014/main" id="{EDC8DAB4-C59B-C493-7D76-5E1C91DA55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1DC2E0-CCB3-2997-598A-4720CC284C29}"/>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32071037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79BFA-EF8F-EA09-32AE-D64B8AE7D94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D6459FB-C2B4-23D4-5E49-19DBA37F4E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F53C33-E5A3-B4F5-E8BF-0885DE881848}"/>
              </a:ext>
            </a:extLst>
          </p:cNvPr>
          <p:cNvSpPr>
            <a:spLocks noGrp="1"/>
          </p:cNvSpPr>
          <p:nvPr>
            <p:ph type="dt" sz="half" idx="10"/>
          </p:nvPr>
        </p:nvSpPr>
        <p:spPr/>
        <p:txBody>
          <a:bodyPr/>
          <a:lstStyle/>
          <a:p>
            <a:fld id="{D66C86BF-26DF-47F2-BBA6-FB99F1E1025C}" type="datetimeFigureOut">
              <a:rPr lang="en-US" smtClean="0"/>
              <a:t>2/10/2026</a:t>
            </a:fld>
            <a:endParaRPr lang="en-US"/>
          </a:p>
        </p:txBody>
      </p:sp>
      <p:sp>
        <p:nvSpPr>
          <p:cNvPr id="5" name="Footer Placeholder 4">
            <a:extLst>
              <a:ext uri="{FF2B5EF4-FFF2-40B4-BE49-F238E27FC236}">
                <a16:creationId xmlns:a16="http://schemas.microsoft.com/office/drawing/2014/main" id="{39B3BEFD-E011-F7CA-9B31-F27B739193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199C5A-F8B7-9E90-F8CD-0F9D22014070}"/>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37251379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C63739-7054-0E76-0B25-A01771D40C1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38EBE8-732F-CBA6-F8BB-30CF1BAE2D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19432A-8B6F-76F0-0D7B-30A66B9629A3}"/>
              </a:ext>
            </a:extLst>
          </p:cNvPr>
          <p:cNvSpPr>
            <a:spLocks noGrp="1"/>
          </p:cNvSpPr>
          <p:nvPr>
            <p:ph type="dt" sz="half" idx="10"/>
          </p:nvPr>
        </p:nvSpPr>
        <p:spPr/>
        <p:txBody>
          <a:bodyPr/>
          <a:lstStyle/>
          <a:p>
            <a:fld id="{D66C86BF-26DF-47F2-BBA6-FB99F1E1025C}" type="datetimeFigureOut">
              <a:rPr lang="en-US" smtClean="0"/>
              <a:t>2/10/2026</a:t>
            </a:fld>
            <a:endParaRPr lang="en-US"/>
          </a:p>
        </p:txBody>
      </p:sp>
      <p:sp>
        <p:nvSpPr>
          <p:cNvPr id="5" name="Footer Placeholder 4">
            <a:extLst>
              <a:ext uri="{FF2B5EF4-FFF2-40B4-BE49-F238E27FC236}">
                <a16:creationId xmlns:a16="http://schemas.microsoft.com/office/drawing/2014/main" id="{82C8D616-BCA7-5689-02D1-3CA3EA8840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983D8B-7730-9BA0-75AA-DC12AF5D041B}"/>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40412534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BEEC88-9CA5-4612-35B7-82E0244A79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3ADCC53-C329-CE13-38A1-EB94C1E16C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1CA58-D0E5-D20E-2F11-B1014BAA02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6C86BF-26DF-47F2-BBA6-FB99F1E1025C}" type="datetimeFigureOut">
              <a:rPr lang="en-US" smtClean="0"/>
              <a:t>2/10/2026</a:t>
            </a:fld>
            <a:endParaRPr lang="en-US"/>
          </a:p>
        </p:txBody>
      </p:sp>
      <p:sp>
        <p:nvSpPr>
          <p:cNvPr id="5" name="Footer Placeholder 4">
            <a:extLst>
              <a:ext uri="{FF2B5EF4-FFF2-40B4-BE49-F238E27FC236}">
                <a16:creationId xmlns:a16="http://schemas.microsoft.com/office/drawing/2014/main" id="{4E54645D-A023-304B-CF92-E94304A16A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BE39631-FBA3-5F80-C564-B320E69D3D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F35010-364B-470B-BB6C-DCBBE63D2E54}" type="slidenum">
              <a:rPr lang="en-US" smtClean="0"/>
              <a:t>‹#›</a:t>
            </a:fld>
            <a:endParaRPr lang="en-US"/>
          </a:p>
        </p:txBody>
      </p:sp>
      <p:sp>
        <p:nvSpPr>
          <p:cNvPr id="8" name="TextBox 7">
            <a:extLst>
              <a:ext uri="{FF2B5EF4-FFF2-40B4-BE49-F238E27FC236}">
                <a16:creationId xmlns:a16="http://schemas.microsoft.com/office/drawing/2014/main" id="{3D09B860-F767-CF44-CE1F-64E3F076B1FC}"/>
              </a:ext>
            </a:extLst>
          </p:cNvPr>
          <p:cNvSpPr txBox="1"/>
          <p:nvPr userDrawn="1">
            <p:extLst>
              <p:ext uri="{1162E1C5-73C7-4A58-AE30-91384D911F3F}">
                <p184:classification xmlns:p184="http://schemas.microsoft.com/office/powerpoint/2018/4/main" val="ftr"/>
              </p:ext>
            </p:extLst>
          </p:nvPr>
        </p:nvSpPr>
        <p:spPr>
          <a:xfrm>
            <a:off x="5678488" y="6672580"/>
            <a:ext cx="855662" cy="121920"/>
          </a:xfrm>
          <a:prstGeom prst="rect">
            <a:avLst/>
          </a:prstGeom>
        </p:spPr>
        <p:txBody>
          <a:bodyPr horzOverflow="overflow" lIns="0" tIns="0" rIns="0" bIns="0">
            <a:spAutoFit/>
          </a:bodyPr>
          <a:lstStyle/>
          <a:p>
            <a:pPr algn="l"/>
            <a:r>
              <a:rPr lang="en-US" sz="800">
                <a:solidFill>
                  <a:srgbClr val="000000">
                    <a:alpha val="50000"/>
                  </a:srgbClr>
                </a:solidFill>
                <a:latin typeface="Aptos" panose="020B0004020202020204" pitchFamily="34" charset="0"/>
              </a:rPr>
              <a:t>General - RPS Data</a:t>
            </a:r>
          </a:p>
        </p:txBody>
      </p:sp>
    </p:spTree>
    <p:extLst>
      <p:ext uri="{BB962C8B-B14F-4D97-AF65-F5344CB8AC3E}">
        <p14:creationId xmlns:p14="http://schemas.microsoft.com/office/powerpoint/2010/main" val="34116530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imamitgouda/Banking_System" TargetMode="External"/><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hyperlink" Target="https://banking-system-application-esa9bcftajbkhccr.centralus-01.azurewebsites.net/swagger-ui/index.html#/" TargetMode="Externa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187CC"/>
        </a:solidFill>
        <a:effectLst/>
      </p:bgPr>
    </p:bg>
    <p:spTree>
      <p:nvGrpSpPr>
        <p:cNvPr id="1" name=""/>
        <p:cNvGrpSpPr/>
        <p:nvPr/>
      </p:nvGrpSpPr>
      <p:grpSpPr>
        <a:xfrm>
          <a:off x="0" y="0"/>
          <a:ext cx="0" cy="0"/>
          <a:chOff x="0" y="0"/>
          <a:chExt cx="0" cy="0"/>
        </a:xfrm>
      </p:grpSpPr>
      <p:pic>
        <p:nvPicPr>
          <p:cNvPr id="4" name="Picture 4"/>
          <p:cNvPicPr>
            <a:picLocks noChangeAspect="1"/>
          </p:cNvPicPr>
          <p:nvPr/>
        </p:nvPicPr>
        <p:blipFill rotWithShape="1">
          <a:blip r:embed="rId2"/>
          <a:srcRect l="1" r="-387" b="18588"/>
          <a:stretch/>
        </p:blipFill>
        <p:spPr>
          <a:xfrm>
            <a:off x="366227" y="237669"/>
            <a:ext cx="1212311" cy="788699"/>
          </a:xfrm>
          <a:prstGeom prst="rect">
            <a:avLst/>
          </a:prstGeom>
        </p:spPr>
      </p:pic>
      <p:sp>
        <p:nvSpPr>
          <p:cNvPr id="6" name="TextBox 6"/>
          <p:cNvSpPr txBox="1"/>
          <p:nvPr/>
        </p:nvSpPr>
        <p:spPr>
          <a:xfrm>
            <a:off x="366227" y="1503753"/>
            <a:ext cx="11555519" cy="998863"/>
          </a:xfrm>
          <a:prstGeom prst="rect">
            <a:avLst/>
          </a:prstGeom>
        </p:spPr>
        <p:txBody>
          <a:bodyPr wrap="square" lIns="0" tIns="0" rIns="0" bIns="0" rtlCol="0" anchor="t">
            <a:spAutoFit/>
          </a:bodyPr>
          <a:lstStyle/>
          <a:p>
            <a:pPr>
              <a:lnSpc>
                <a:spcPts val="9425"/>
              </a:lnSpc>
              <a:spcBef>
                <a:spcPct val="0"/>
              </a:spcBef>
            </a:pPr>
            <a:r>
              <a:rPr lang="en-US" sz="2800" dirty="0">
                <a:solidFill>
                  <a:srgbClr val="FFFFFF"/>
                </a:solidFill>
                <a:latin typeface="Calibri" panose="020F0502020204030204" pitchFamily="34" charset="0"/>
                <a:ea typeface="Calibri" panose="020F0502020204030204" pitchFamily="34" charset="0"/>
                <a:cs typeface="Calibri" panose="020F0502020204030204" pitchFamily="34" charset="0"/>
              </a:rPr>
              <a:t>WIPRO NGA Program – 25SUB4530_CP_JAVA</a:t>
            </a:r>
          </a:p>
        </p:txBody>
      </p:sp>
      <p:sp>
        <p:nvSpPr>
          <p:cNvPr id="7" name="TextBox 7"/>
          <p:cNvSpPr txBox="1"/>
          <p:nvPr/>
        </p:nvSpPr>
        <p:spPr>
          <a:xfrm>
            <a:off x="366227" y="3275236"/>
            <a:ext cx="6780319" cy="574966"/>
          </a:xfrm>
          <a:prstGeom prst="rect">
            <a:avLst/>
          </a:prstGeom>
        </p:spPr>
        <p:txBody>
          <a:bodyPr wrap="square" lIns="0" tIns="0" rIns="0" bIns="0" rtlCol="0" anchor="t">
            <a:spAutoFit/>
          </a:bodyPr>
          <a:lstStyle/>
          <a:p>
            <a:pPr algn="just">
              <a:lnSpc>
                <a:spcPts val="2239"/>
              </a:lnSpc>
              <a:spcBef>
                <a:spcPct val="0"/>
              </a:spcBef>
            </a:pPr>
            <a:r>
              <a:rPr lang="en-US" sz="2400" dirty="0">
                <a:solidFill>
                  <a:srgbClr val="FFFFFF"/>
                </a:solidFill>
                <a:latin typeface="HK Grotesk" pitchFamily="2" charset="77"/>
              </a:rPr>
              <a:t>Capstone Project Presentation – 9</a:t>
            </a:r>
            <a:r>
              <a:rPr lang="en-US" sz="2400" baseline="30000" dirty="0">
                <a:solidFill>
                  <a:srgbClr val="FFFFFF"/>
                </a:solidFill>
                <a:latin typeface="HK Grotesk" pitchFamily="2" charset="77"/>
              </a:rPr>
              <a:t>th</a:t>
            </a:r>
            <a:r>
              <a:rPr lang="en-US" sz="2400" dirty="0">
                <a:solidFill>
                  <a:srgbClr val="FFFFFF"/>
                </a:solidFill>
                <a:latin typeface="HK Grotesk" pitchFamily="2" charset="77"/>
              </a:rPr>
              <a:t> Feb &amp; 10</a:t>
            </a:r>
            <a:r>
              <a:rPr lang="en-US" sz="2400" baseline="30000" dirty="0">
                <a:solidFill>
                  <a:srgbClr val="FFFFFF"/>
                </a:solidFill>
                <a:latin typeface="HK Grotesk" pitchFamily="2" charset="77"/>
              </a:rPr>
              <a:t>th</a:t>
            </a:r>
            <a:r>
              <a:rPr lang="en-US" sz="2400" dirty="0">
                <a:solidFill>
                  <a:srgbClr val="FFFFFF"/>
                </a:solidFill>
                <a:latin typeface="HK Grotesk" pitchFamily="2" charset="77"/>
              </a:rPr>
              <a:t> Feb   2026</a:t>
            </a:r>
          </a:p>
        </p:txBody>
      </p:sp>
      <p:sp>
        <p:nvSpPr>
          <p:cNvPr id="8" name="TextBox 8"/>
          <p:cNvSpPr txBox="1"/>
          <p:nvPr/>
        </p:nvSpPr>
        <p:spPr>
          <a:xfrm>
            <a:off x="366226" y="6140450"/>
            <a:ext cx="4172935" cy="221664"/>
          </a:xfrm>
          <a:prstGeom prst="rect">
            <a:avLst/>
          </a:prstGeom>
        </p:spPr>
        <p:txBody>
          <a:bodyPr lIns="0" tIns="0" rIns="0" bIns="0" rtlCol="0" anchor="t">
            <a:spAutoFit/>
          </a:bodyPr>
          <a:lstStyle/>
          <a:p>
            <a:pPr algn="just">
              <a:lnSpc>
                <a:spcPts val="1867"/>
              </a:lnSpc>
              <a:spcBef>
                <a:spcPct val="0"/>
              </a:spcBef>
            </a:pPr>
            <a:r>
              <a:rPr lang="en-US" sz="1333" spc="133" dirty="0">
                <a:solidFill>
                  <a:srgbClr val="FFFFFF"/>
                </a:solidFill>
                <a:latin typeface="HK Grotesk Light Bold"/>
              </a:rPr>
              <a:t>www.rpsconsulting.in</a:t>
            </a:r>
          </a:p>
        </p:txBody>
      </p:sp>
      <p:sp>
        <p:nvSpPr>
          <p:cNvPr id="2" name="TextBox 7">
            <a:extLst>
              <a:ext uri="{FF2B5EF4-FFF2-40B4-BE49-F238E27FC236}">
                <a16:creationId xmlns:a16="http://schemas.microsoft.com/office/drawing/2014/main" id="{ED66556B-B256-8D8D-E60E-0C5895B5FFA5}"/>
              </a:ext>
            </a:extLst>
          </p:cNvPr>
          <p:cNvSpPr txBox="1"/>
          <p:nvPr/>
        </p:nvSpPr>
        <p:spPr>
          <a:xfrm>
            <a:off x="366226" y="5061410"/>
            <a:ext cx="10999864" cy="292837"/>
          </a:xfrm>
          <a:prstGeom prst="rect">
            <a:avLst/>
          </a:prstGeom>
        </p:spPr>
        <p:txBody>
          <a:bodyPr wrap="square" lIns="0" tIns="0" rIns="0" bIns="0" rtlCol="0" anchor="t">
            <a:spAutoFit/>
          </a:bodyPr>
          <a:lstStyle/>
          <a:p>
            <a:pPr algn="just">
              <a:lnSpc>
                <a:spcPts val="2239"/>
              </a:lnSpc>
              <a:spcBef>
                <a:spcPct val="0"/>
              </a:spcBef>
            </a:pPr>
            <a:r>
              <a:rPr lang="en-US" sz="2400" dirty="0">
                <a:solidFill>
                  <a:srgbClr val="FFFFFF"/>
                </a:solidFill>
                <a:latin typeface="HK Grotesk" pitchFamily="2" charset="77"/>
              </a:rPr>
              <a:t>Presented by – Ambati </a:t>
            </a:r>
            <a:r>
              <a:rPr lang="en-US" sz="2400" dirty="0" err="1">
                <a:solidFill>
                  <a:srgbClr val="FFFFFF"/>
                </a:solidFill>
                <a:latin typeface="HK Grotesk" pitchFamily="2" charset="77"/>
              </a:rPr>
              <a:t>SaiNithin</a:t>
            </a:r>
            <a:r>
              <a:rPr lang="en-US" sz="2400" dirty="0">
                <a:solidFill>
                  <a:srgbClr val="FFFFFF"/>
                </a:solidFill>
                <a:latin typeface="HK Grotesk" pitchFamily="2" charset="77"/>
              </a:rPr>
              <a:t>, Amitkumar Surendranath Gouda – Team 1</a:t>
            </a:r>
          </a:p>
        </p:txBody>
      </p:sp>
      <p:sp>
        <p:nvSpPr>
          <p:cNvPr id="3" name="TextBox 7">
            <a:extLst>
              <a:ext uri="{FF2B5EF4-FFF2-40B4-BE49-F238E27FC236}">
                <a16:creationId xmlns:a16="http://schemas.microsoft.com/office/drawing/2014/main" id="{21F87AA7-2FEF-9248-CC8B-6951622F8F14}"/>
              </a:ext>
            </a:extLst>
          </p:cNvPr>
          <p:cNvSpPr txBox="1"/>
          <p:nvPr/>
        </p:nvSpPr>
        <p:spPr>
          <a:xfrm>
            <a:off x="366227" y="4136906"/>
            <a:ext cx="6780319" cy="292837"/>
          </a:xfrm>
          <a:prstGeom prst="rect">
            <a:avLst/>
          </a:prstGeom>
        </p:spPr>
        <p:txBody>
          <a:bodyPr wrap="square" lIns="0" tIns="0" rIns="0" bIns="0" rtlCol="0" anchor="t">
            <a:spAutoFit/>
          </a:bodyPr>
          <a:lstStyle/>
          <a:p>
            <a:pPr algn="just">
              <a:lnSpc>
                <a:spcPts val="2239"/>
              </a:lnSpc>
              <a:spcBef>
                <a:spcPct val="0"/>
              </a:spcBef>
            </a:pPr>
            <a:r>
              <a:rPr lang="en-US" sz="2400" dirty="0">
                <a:solidFill>
                  <a:srgbClr val="FFFFFF"/>
                </a:solidFill>
                <a:latin typeface="HK Grotesk" pitchFamily="2" charset="77"/>
              </a:rPr>
              <a:t>Project Title Here – Banking Management System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7AE17-255B-EFAF-AB19-35D5726D4935}"/>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FE3526C0-0D62-E999-846D-539DB0F96A06}"/>
              </a:ext>
            </a:extLst>
          </p:cNvPr>
          <p:cNvSpPr/>
          <p:nvPr/>
        </p:nvSpPr>
        <p:spPr>
          <a:xfrm>
            <a:off x="273075" y="211475"/>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Banking Management System</a:t>
            </a:r>
          </a:p>
        </p:txBody>
      </p:sp>
      <p:pic>
        <p:nvPicPr>
          <p:cNvPr id="2" name="Picture 1" descr="Logo&#10;&#10;Description automatically generated">
            <a:extLst>
              <a:ext uri="{FF2B5EF4-FFF2-40B4-BE49-F238E27FC236}">
                <a16:creationId xmlns:a16="http://schemas.microsoft.com/office/drawing/2014/main" id="{CE32E4E7-27A9-CE4B-8AB0-AA5E86AA8E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3222EB71-F821-F852-BAE8-F9C461EA6C98}"/>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CB6264C8-542D-6BAC-F31C-291E314EAB7E}"/>
              </a:ext>
            </a:extLst>
          </p:cNvPr>
          <p:cNvSpPr>
            <a:spLocks noGrp="1"/>
          </p:cNvSpPr>
          <p:nvPr>
            <p:ph type="sldNum" sz="quarter" idx="12"/>
          </p:nvPr>
        </p:nvSpPr>
        <p:spPr/>
        <p:txBody>
          <a:bodyPr/>
          <a:lstStyle/>
          <a:p>
            <a:fld id="{C8F35010-364B-470B-BB6C-DCBBE63D2E54}" type="slidenum">
              <a:rPr lang="en-US" smtClean="0">
                <a:solidFill>
                  <a:schemeClr val="tx1"/>
                </a:solidFill>
              </a:rPr>
              <a:t>2</a:t>
            </a:fld>
            <a:endParaRPr lang="en-US" dirty="0">
              <a:solidFill>
                <a:schemeClr val="tx1"/>
              </a:solidFill>
            </a:endParaRPr>
          </a:p>
        </p:txBody>
      </p:sp>
      <p:sp>
        <p:nvSpPr>
          <p:cNvPr id="4" name="TextBox 3">
            <a:extLst>
              <a:ext uri="{FF2B5EF4-FFF2-40B4-BE49-F238E27FC236}">
                <a16:creationId xmlns:a16="http://schemas.microsoft.com/office/drawing/2014/main" id="{DC834CDC-2435-88E7-E908-66FF8BBA8773}"/>
              </a:ext>
            </a:extLst>
          </p:cNvPr>
          <p:cNvSpPr txBox="1"/>
          <p:nvPr/>
        </p:nvSpPr>
        <p:spPr>
          <a:xfrm>
            <a:off x="273074" y="1354574"/>
            <a:ext cx="11080725" cy="400109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rgbClr val="0187CC"/>
                </a:solidFill>
                <a:latin typeface="HK Grotesk"/>
              </a:rPr>
              <a:t>Introduction :</a:t>
            </a:r>
          </a:p>
          <a:p>
            <a:endParaRPr lang="en-US" sz="2800" dirty="0">
              <a:solidFill>
                <a:srgbClr val="0187CC"/>
              </a:solidFill>
              <a:latin typeface="HK Grotesk"/>
            </a:endParaRPr>
          </a:p>
          <a:p>
            <a:endParaRPr lang="en-US" sz="2200" dirty="0">
              <a:solidFill>
                <a:srgbClr val="0187CC"/>
              </a:solidFill>
              <a:latin typeface="HK Grotesk"/>
            </a:endParaRPr>
          </a:p>
          <a:p>
            <a:pPr marL="342900" indent="-342900">
              <a:buFont typeface="Arial" panose="020B0604020202020204" pitchFamily="34" charset="0"/>
              <a:buChar char="•"/>
            </a:pPr>
            <a:r>
              <a:rPr lang="en-US" sz="2200" dirty="0">
                <a:solidFill>
                  <a:srgbClr val="0187CC"/>
                </a:solidFill>
                <a:latin typeface="HK Grotesk"/>
              </a:rPr>
              <a:t>The Banking Account Management System is a web-based application developed to manage basic banking activities in a digital and efficient manner. </a:t>
            </a:r>
          </a:p>
          <a:p>
            <a:pPr marL="342900" indent="-342900">
              <a:buFont typeface="Arial" panose="020B0604020202020204" pitchFamily="34" charset="0"/>
              <a:buChar char="•"/>
            </a:pPr>
            <a:r>
              <a:rPr lang="en-US" sz="2200" dirty="0">
                <a:solidFill>
                  <a:srgbClr val="0187CC"/>
                </a:solidFill>
                <a:latin typeface="HK Grotesk"/>
              </a:rPr>
              <a:t>The system helps in maintaining customer account details, handling transactions, and storing banking data securely. </a:t>
            </a:r>
          </a:p>
          <a:p>
            <a:pPr marL="342900" indent="-342900">
              <a:buFont typeface="Arial" panose="020B0604020202020204" pitchFamily="34" charset="0"/>
              <a:buChar char="•"/>
            </a:pPr>
            <a:r>
              <a:rPr lang="en-US" sz="2200" dirty="0">
                <a:solidFill>
                  <a:srgbClr val="0187CC"/>
                </a:solidFill>
                <a:latin typeface="HK Grotesk"/>
              </a:rPr>
              <a:t>By using this application, banks can reduce manual work and improve the accuracy of their operations. </a:t>
            </a:r>
          </a:p>
          <a:p>
            <a:pPr marL="342900" indent="-342900">
              <a:buFont typeface="Arial" panose="020B0604020202020204" pitchFamily="34" charset="0"/>
              <a:buChar char="•"/>
            </a:pPr>
            <a:r>
              <a:rPr lang="en-US" sz="2200" dirty="0">
                <a:solidFill>
                  <a:srgbClr val="0187CC"/>
                </a:solidFill>
                <a:latin typeface="HK Grotesk"/>
              </a:rPr>
              <a:t>It provides a user-friendly interface that allows users to access banking services easily and quickly.</a:t>
            </a:r>
          </a:p>
        </p:txBody>
      </p:sp>
    </p:spTree>
    <p:extLst>
      <p:ext uri="{BB962C8B-B14F-4D97-AF65-F5344CB8AC3E}">
        <p14:creationId xmlns:p14="http://schemas.microsoft.com/office/powerpoint/2010/main" val="4051022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D3032-B556-A91A-981E-8250A33CEFA4}"/>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862E1825-6333-41D5-E771-CF08492BD77E}"/>
              </a:ext>
            </a:extLst>
          </p:cNvPr>
          <p:cNvSpPr/>
          <p:nvPr/>
        </p:nvSpPr>
        <p:spPr>
          <a:xfrm>
            <a:off x="273075" y="211475"/>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Banking Management System</a:t>
            </a:r>
          </a:p>
        </p:txBody>
      </p:sp>
      <p:pic>
        <p:nvPicPr>
          <p:cNvPr id="2" name="Picture 1" descr="Logo&#10;&#10;Description automatically generated">
            <a:extLst>
              <a:ext uri="{FF2B5EF4-FFF2-40B4-BE49-F238E27FC236}">
                <a16:creationId xmlns:a16="http://schemas.microsoft.com/office/drawing/2014/main" id="{8D7400C0-485A-874F-6D5D-115D01E828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F34A314C-6C61-4D84-1B85-2D54121D8D92}"/>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9147CB2D-20DA-B466-107D-17102AE1FBE4}"/>
              </a:ext>
            </a:extLst>
          </p:cNvPr>
          <p:cNvSpPr>
            <a:spLocks noGrp="1"/>
          </p:cNvSpPr>
          <p:nvPr>
            <p:ph type="sldNum" sz="quarter" idx="12"/>
          </p:nvPr>
        </p:nvSpPr>
        <p:spPr/>
        <p:txBody>
          <a:bodyPr/>
          <a:lstStyle/>
          <a:p>
            <a:fld id="{C8F35010-364B-470B-BB6C-DCBBE63D2E54}" type="slidenum">
              <a:rPr lang="en-US" smtClean="0">
                <a:solidFill>
                  <a:schemeClr val="tx1"/>
                </a:solidFill>
              </a:rPr>
              <a:t>3</a:t>
            </a:fld>
            <a:endParaRPr lang="en-US" dirty="0">
              <a:solidFill>
                <a:schemeClr val="tx1"/>
              </a:solidFill>
            </a:endParaRPr>
          </a:p>
        </p:txBody>
      </p:sp>
      <p:sp>
        <p:nvSpPr>
          <p:cNvPr id="4" name="TextBox 3">
            <a:extLst>
              <a:ext uri="{FF2B5EF4-FFF2-40B4-BE49-F238E27FC236}">
                <a16:creationId xmlns:a16="http://schemas.microsoft.com/office/drawing/2014/main" id="{EFB992C1-F4CE-9AC8-B9C3-CA40A6B2E3A6}"/>
              </a:ext>
            </a:extLst>
          </p:cNvPr>
          <p:cNvSpPr txBox="1"/>
          <p:nvPr/>
        </p:nvSpPr>
        <p:spPr>
          <a:xfrm>
            <a:off x="431513" y="1325077"/>
            <a:ext cx="11080725" cy="366254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rgbClr val="0187CC"/>
                </a:solidFill>
                <a:latin typeface="HK Grotesk"/>
              </a:rPr>
              <a:t>Problem Statement :</a:t>
            </a:r>
          </a:p>
          <a:p>
            <a:endParaRPr lang="en-US" sz="2800" dirty="0">
              <a:solidFill>
                <a:srgbClr val="0187CC"/>
              </a:solidFill>
              <a:latin typeface="HK Grotesk"/>
            </a:endParaRPr>
          </a:p>
          <a:p>
            <a:r>
              <a:rPr lang="en-US" sz="2200" dirty="0">
                <a:solidFill>
                  <a:srgbClr val="0187CC"/>
                </a:solidFill>
                <a:latin typeface="HK Grotesk"/>
              </a:rPr>
              <a:t>Traditional banking systems depend heavily on manual processes and paperwork, which often result in errors, delays, and difficulties in maintaining records. </a:t>
            </a:r>
          </a:p>
          <a:p>
            <a:endParaRPr lang="en-US" sz="2200" dirty="0">
              <a:solidFill>
                <a:srgbClr val="0187CC"/>
              </a:solidFill>
              <a:latin typeface="HK Grotesk"/>
            </a:endParaRPr>
          </a:p>
          <a:p>
            <a:r>
              <a:rPr lang="en-US" sz="2200" dirty="0">
                <a:solidFill>
                  <a:srgbClr val="0187CC"/>
                </a:solidFill>
                <a:latin typeface="HK Grotesk"/>
              </a:rPr>
              <a:t>Managing large volumes of customer data becomes complex and inefficient. Customers also face problems in tracking their account details and transaction history. </a:t>
            </a:r>
          </a:p>
          <a:p>
            <a:endParaRPr lang="en-US" sz="2200" dirty="0">
              <a:solidFill>
                <a:srgbClr val="0187CC"/>
              </a:solidFill>
              <a:latin typeface="HK Grotesk"/>
            </a:endParaRPr>
          </a:p>
          <a:p>
            <a:r>
              <a:rPr lang="en-US" sz="2200" dirty="0">
                <a:solidFill>
                  <a:srgbClr val="0187CC"/>
                </a:solidFill>
                <a:latin typeface="HK Grotesk"/>
              </a:rPr>
              <a:t>Therefore, there is a need for an automated and centralized banking system that ensures accuracy, security, and faster operations.</a:t>
            </a:r>
          </a:p>
        </p:txBody>
      </p:sp>
    </p:spTree>
    <p:extLst>
      <p:ext uri="{BB962C8B-B14F-4D97-AF65-F5344CB8AC3E}">
        <p14:creationId xmlns:p14="http://schemas.microsoft.com/office/powerpoint/2010/main" val="4214248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BEB73-466C-0D03-3CC4-644E6AC1F61C}"/>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DCF2EE09-856A-C061-DE90-4CA50D407FAC}"/>
              </a:ext>
            </a:extLst>
          </p:cNvPr>
          <p:cNvSpPr/>
          <p:nvPr/>
        </p:nvSpPr>
        <p:spPr>
          <a:xfrm>
            <a:off x="273075" y="211475"/>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Banking Management System</a:t>
            </a:r>
          </a:p>
        </p:txBody>
      </p:sp>
      <p:pic>
        <p:nvPicPr>
          <p:cNvPr id="2" name="Picture 1" descr="Logo&#10;&#10;Description automatically generated">
            <a:extLst>
              <a:ext uri="{FF2B5EF4-FFF2-40B4-BE49-F238E27FC236}">
                <a16:creationId xmlns:a16="http://schemas.microsoft.com/office/drawing/2014/main" id="{6A82B561-06E1-43F3-D7E6-06784041A2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555E6433-F75B-30FC-924C-40851BFBD088}"/>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F2132FA7-E604-83BC-6BA4-AA2E14FF177C}"/>
              </a:ext>
            </a:extLst>
          </p:cNvPr>
          <p:cNvSpPr>
            <a:spLocks noGrp="1"/>
          </p:cNvSpPr>
          <p:nvPr>
            <p:ph type="sldNum" sz="quarter" idx="12"/>
          </p:nvPr>
        </p:nvSpPr>
        <p:spPr/>
        <p:txBody>
          <a:bodyPr/>
          <a:lstStyle/>
          <a:p>
            <a:fld id="{C8F35010-364B-470B-BB6C-DCBBE63D2E54}" type="slidenum">
              <a:rPr lang="en-US" smtClean="0">
                <a:solidFill>
                  <a:schemeClr val="tx1"/>
                </a:solidFill>
              </a:rPr>
              <a:t>4</a:t>
            </a:fld>
            <a:endParaRPr lang="en-US" dirty="0">
              <a:solidFill>
                <a:schemeClr val="tx1"/>
              </a:solidFill>
            </a:endParaRPr>
          </a:p>
        </p:txBody>
      </p:sp>
      <p:sp>
        <p:nvSpPr>
          <p:cNvPr id="4" name="TextBox 3">
            <a:extLst>
              <a:ext uri="{FF2B5EF4-FFF2-40B4-BE49-F238E27FC236}">
                <a16:creationId xmlns:a16="http://schemas.microsoft.com/office/drawing/2014/main" id="{5F56EEE1-E46D-B711-3451-D61CCEA2433F}"/>
              </a:ext>
            </a:extLst>
          </p:cNvPr>
          <p:cNvSpPr txBox="1"/>
          <p:nvPr/>
        </p:nvSpPr>
        <p:spPr>
          <a:xfrm>
            <a:off x="273074" y="1354574"/>
            <a:ext cx="11080725" cy="467820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rgbClr val="0187CC"/>
                </a:solidFill>
                <a:latin typeface="HK Grotesk"/>
              </a:rPr>
              <a:t>Objectives:</a:t>
            </a:r>
          </a:p>
          <a:p>
            <a:endParaRPr lang="en-US" sz="2800" dirty="0">
              <a:solidFill>
                <a:srgbClr val="0187CC"/>
              </a:solidFill>
              <a:latin typeface="HK Grotesk"/>
            </a:endParaRPr>
          </a:p>
          <a:p>
            <a:r>
              <a:rPr lang="en-US" sz="2200" dirty="0">
                <a:solidFill>
                  <a:srgbClr val="0187CC"/>
                </a:solidFill>
                <a:latin typeface="HK Grotesk"/>
              </a:rPr>
              <a:t>The key objectives of the Banking Management System are:</a:t>
            </a:r>
          </a:p>
          <a:p>
            <a:endParaRPr lang="en-US" sz="2200" dirty="0">
              <a:solidFill>
                <a:srgbClr val="0187CC"/>
              </a:solidFill>
              <a:latin typeface="HK Grotesk"/>
            </a:endParaRPr>
          </a:p>
          <a:p>
            <a:pPr marL="342900" indent="-342900">
              <a:buFont typeface="Arial" panose="020B0604020202020204" pitchFamily="34" charset="0"/>
              <a:buChar char="•"/>
            </a:pPr>
            <a:r>
              <a:rPr lang="en-US" sz="2200" dirty="0">
                <a:solidFill>
                  <a:srgbClr val="0187CC"/>
                </a:solidFill>
                <a:latin typeface="HK Grotesk"/>
              </a:rPr>
              <a:t>To develop a secure and user-friendly banking system</a:t>
            </a:r>
          </a:p>
          <a:p>
            <a:pPr marL="342900" indent="-342900">
              <a:buFont typeface="Arial" panose="020B0604020202020204" pitchFamily="34" charset="0"/>
              <a:buChar char="•"/>
            </a:pPr>
            <a:endParaRPr lang="en-US" sz="2200" dirty="0">
              <a:solidFill>
                <a:srgbClr val="0187CC"/>
              </a:solidFill>
              <a:latin typeface="HK Grotesk"/>
            </a:endParaRPr>
          </a:p>
          <a:p>
            <a:pPr marL="342900" indent="-342900">
              <a:buFont typeface="Arial" panose="020B0604020202020204" pitchFamily="34" charset="0"/>
              <a:buChar char="•"/>
            </a:pPr>
            <a:r>
              <a:rPr lang="en-US" sz="2200" dirty="0">
                <a:solidFill>
                  <a:srgbClr val="0187CC"/>
                </a:solidFill>
                <a:latin typeface="HK Grotesk"/>
              </a:rPr>
              <a:t>To automate basic banking operations</a:t>
            </a:r>
          </a:p>
          <a:p>
            <a:pPr marL="342900" indent="-342900">
              <a:buFont typeface="Arial" panose="020B0604020202020204" pitchFamily="34" charset="0"/>
              <a:buChar char="•"/>
            </a:pPr>
            <a:endParaRPr lang="en-US" sz="2200" dirty="0">
              <a:solidFill>
                <a:srgbClr val="0187CC"/>
              </a:solidFill>
              <a:latin typeface="HK Grotesk"/>
            </a:endParaRPr>
          </a:p>
          <a:p>
            <a:pPr marL="342900" indent="-342900">
              <a:buFont typeface="Arial" panose="020B0604020202020204" pitchFamily="34" charset="0"/>
              <a:buChar char="•"/>
            </a:pPr>
            <a:r>
              <a:rPr lang="en-US" sz="2200" dirty="0">
                <a:solidFill>
                  <a:srgbClr val="0187CC"/>
                </a:solidFill>
                <a:latin typeface="HK Grotesk"/>
              </a:rPr>
              <a:t>To reduce manual work and human errors</a:t>
            </a:r>
          </a:p>
          <a:p>
            <a:pPr marL="342900" indent="-342900">
              <a:buFont typeface="Arial" panose="020B0604020202020204" pitchFamily="34" charset="0"/>
              <a:buChar char="•"/>
            </a:pPr>
            <a:endParaRPr lang="en-US" sz="2200" dirty="0">
              <a:solidFill>
                <a:srgbClr val="0187CC"/>
              </a:solidFill>
              <a:latin typeface="HK Grotesk"/>
            </a:endParaRPr>
          </a:p>
          <a:p>
            <a:pPr marL="342900" indent="-342900">
              <a:buFont typeface="Arial" panose="020B0604020202020204" pitchFamily="34" charset="0"/>
              <a:buChar char="•"/>
            </a:pPr>
            <a:r>
              <a:rPr lang="en-US" sz="2200" dirty="0">
                <a:solidFill>
                  <a:srgbClr val="0187CC"/>
                </a:solidFill>
                <a:latin typeface="HK Grotesk"/>
              </a:rPr>
              <a:t>To store and manage customer data efficiently</a:t>
            </a:r>
          </a:p>
          <a:p>
            <a:pPr marL="342900" indent="-342900">
              <a:buFont typeface="Arial" panose="020B0604020202020204" pitchFamily="34" charset="0"/>
              <a:buChar char="•"/>
            </a:pPr>
            <a:endParaRPr lang="en-US" sz="2200" dirty="0">
              <a:solidFill>
                <a:srgbClr val="0187CC"/>
              </a:solidFill>
              <a:latin typeface="HK Grotesk"/>
            </a:endParaRPr>
          </a:p>
          <a:p>
            <a:pPr marL="342900" indent="-342900">
              <a:buFont typeface="Arial" panose="020B0604020202020204" pitchFamily="34" charset="0"/>
              <a:buChar char="•"/>
            </a:pPr>
            <a:r>
              <a:rPr lang="en-US" sz="2200" dirty="0">
                <a:solidFill>
                  <a:srgbClr val="0187CC"/>
                </a:solidFill>
                <a:latin typeface="HK Grotesk"/>
              </a:rPr>
              <a:t>To provide quick access to account and transaction details</a:t>
            </a:r>
          </a:p>
        </p:txBody>
      </p:sp>
    </p:spTree>
    <p:extLst>
      <p:ext uri="{BB962C8B-B14F-4D97-AF65-F5344CB8AC3E}">
        <p14:creationId xmlns:p14="http://schemas.microsoft.com/office/powerpoint/2010/main" val="2358434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BAA7F-E173-669B-1B0C-F636A8E01377}"/>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F346FCAD-33FF-4924-74CE-0C74F391DDC9}"/>
              </a:ext>
            </a:extLst>
          </p:cNvPr>
          <p:cNvSpPr/>
          <p:nvPr/>
        </p:nvSpPr>
        <p:spPr>
          <a:xfrm>
            <a:off x="273075" y="211475"/>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Banking Management System</a:t>
            </a:r>
          </a:p>
        </p:txBody>
      </p:sp>
      <p:pic>
        <p:nvPicPr>
          <p:cNvPr id="2" name="Picture 1" descr="Logo&#10;&#10;Description automatically generated">
            <a:extLst>
              <a:ext uri="{FF2B5EF4-FFF2-40B4-BE49-F238E27FC236}">
                <a16:creationId xmlns:a16="http://schemas.microsoft.com/office/drawing/2014/main" id="{3C1B8075-AFE0-BCA2-8C45-33660646F9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790169E1-533F-8E81-8199-8D7ADDBB08DC}"/>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5F2425B0-9D6D-8BAB-21F9-D2B1C745903B}"/>
              </a:ext>
            </a:extLst>
          </p:cNvPr>
          <p:cNvSpPr>
            <a:spLocks noGrp="1"/>
          </p:cNvSpPr>
          <p:nvPr>
            <p:ph type="sldNum" sz="quarter" idx="12"/>
          </p:nvPr>
        </p:nvSpPr>
        <p:spPr/>
        <p:txBody>
          <a:bodyPr/>
          <a:lstStyle/>
          <a:p>
            <a:fld id="{C8F35010-364B-470B-BB6C-DCBBE63D2E54}" type="slidenum">
              <a:rPr lang="en-US" smtClean="0">
                <a:solidFill>
                  <a:schemeClr val="tx1"/>
                </a:solidFill>
              </a:rPr>
              <a:t>5</a:t>
            </a:fld>
            <a:endParaRPr lang="en-US" dirty="0">
              <a:solidFill>
                <a:schemeClr val="tx1"/>
              </a:solidFill>
            </a:endParaRPr>
          </a:p>
        </p:txBody>
      </p:sp>
      <p:sp>
        <p:nvSpPr>
          <p:cNvPr id="4" name="TextBox 3">
            <a:extLst>
              <a:ext uri="{FF2B5EF4-FFF2-40B4-BE49-F238E27FC236}">
                <a16:creationId xmlns:a16="http://schemas.microsoft.com/office/drawing/2014/main" id="{863B3C11-CBFB-623A-828B-B87BD2B672C2}"/>
              </a:ext>
            </a:extLst>
          </p:cNvPr>
          <p:cNvSpPr txBox="1"/>
          <p:nvPr/>
        </p:nvSpPr>
        <p:spPr>
          <a:xfrm>
            <a:off x="273074" y="1354574"/>
            <a:ext cx="11080725" cy="433965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rgbClr val="0187CC"/>
                </a:solidFill>
                <a:latin typeface="HK Grotesk"/>
              </a:rPr>
              <a:t>Core Functionalities:</a:t>
            </a:r>
          </a:p>
          <a:p>
            <a:endParaRPr lang="en-US" sz="2800" dirty="0">
              <a:solidFill>
                <a:srgbClr val="0187CC"/>
              </a:solidFill>
              <a:latin typeface="HK Grotesk"/>
            </a:endParaRPr>
          </a:p>
          <a:p>
            <a:r>
              <a:rPr lang="en-US" sz="2200" dirty="0">
                <a:solidFill>
                  <a:srgbClr val="0187CC"/>
                </a:solidFill>
                <a:latin typeface="HK Grotesk"/>
              </a:rPr>
              <a:t>The system provides the following core functionalities:</a:t>
            </a:r>
          </a:p>
          <a:p>
            <a:endParaRPr lang="en-US" sz="2200" dirty="0">
              <a:solidFill>
                <a:srgbClr val="0187CC"/>
              </a:solidFill>
              <a:latin typeface="HK Grotesk"/>
            </a:endParaRPr>
          </a:p>
          <a:p>
            <a:pPr marL="342900" indent="-342900">
              <a:buFont typeface="Arial" panose="020B0604020202020204" pitchFamily="34" charset="0"/>
              <a:buChar char="•"/>
            </a:pPr>
            <a:r>
              <a:rPr lang="en-US" sz="2200" dirty="0">
                <a:solidFill>
                  <a:srgbClr val="0187CC"/>
                </a:solidFill>
                <a:latin typeface="HK Grotesk"/>
              </a:rPr>
              <a:t>The core functionality of the Banking Account Management System includes user registration, authentication, and account management.</a:t>
            </a:r>
          </a:p>
          <a:p>
            <a:pPr marL="342900" indent="-342900">
              <a:buFont typeface="Arial" panose="020B0604020202020204" pitchFamily="34" charset="0"/>
              <a:buChar char="•"/>
            </a:pPr>
            <a:r>
              <a:rPr lang="en-US" sz="2200" dirty="0">
                <a:solidFill>
                  <a:srgbClr val="0187CC"/>
                </a:solidFill>
                <a:latin typeface="HK Grotesk"/>
              </a:rPr>
              <a:t>The system allows users to create accounts, view account details, and perform basic banking transactions like Self Transfer.</a:t>
            </a:r>
          </a:p>
          <a:p>
            <a:pPr marL="342900" indent="-342900">
              <a:buFont typeface="Arial" panose="020B0604020202020204" pitchFamily="34" charset="0"/>
              <a:buChar char="•"/>
            </a:pPr>
            <a:r>
              <a:rPr lang="en-US" sz="2200" dirty="0">
                <a:solidFill>
                  <a:srgbClr val="0187CC"/>
                </a:solidFill>
                <a:latin typeface="HK Grotesk"/>
              </a:rPr>
              <a:t> It also maintains transaction history, enabling users to track their financial activities. All operations are handled through a secure backend connected to a database.</a:t>
            </a:r>
          </a:p>
          <a:p>
            <a:r>
              <a:rPr lang="en-US" sz="2200" dirty="0">
                <a:solidFill>
                  <a:srgbClr val="0187CC"/>
                </a:solidFill>
                <a:latin typeface="HK Grotesk"/>
              </a:rPr>
              <a:t>All operations are performed using RESTful APIs, ensuring loose coupling between frontend and backend.</a:t>
            </a:r>
          </a:p>
        </p:txBody>
      </p:sp>
    </p:spTree>
    <p:extLst>
      <p:ext uri="{BB962C8B-B14F-4D97-AF65-F5344CB8AC3E}">
        <p14:creationId xmlns:p14="http://schemas.microsoft.com/office/powerpoint/2010/main" val="12856672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CD5A3-6818-183B-2089-8F4057B79FD1}"/>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86C85CE4-B3F5-9AE1-7705-F1610DE645F7}"/>
              </a:ext>
            </a:extLst>
          </p:cNvPr>
          <p:cNvSpPr/>
          <p:nvPr/>
        </p:nvSpPr>
        <p:spPr>
          <a:xfrm>
            <a:off x="273075" y="211475"/>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Banking Management System</a:t>
            </a:r>
          </a:p>
        </p:txBody>
      </p:sp>
      <p:pic>
        <p:nvPicPr>
          <p:cNvPr id="2" name="Picture 1" descr="Logo&#10;&#10;Description automatically generated">
            <a:extLst>
              <a:ext uri="{FF2B5EF4-FFF2-40B4-BE49-F238E27FC236}">
                <a16:creationId xmlns:a16="http://schemas.microsoft.com/office/drawing/2014/main" id="{76EC1D6E-C60D-2D2C-7489-A69FFA3304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EFDFC1CD-B055-B171-9A0E-C8CFDBEC0F48}"/>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6ED056FD-2A83-4DFC-3474-0E0703AAC949}"/>
              </a:ext>
            </a:extLst>
          </p:cNvPr>
          <p:cNvSpPr>
            <a:spLocks noGrp="1"/>
          </p:cNvSpPr>
          <p:nvPr>
            <p:ph type="sldNum" sz="quarter" idx="12"/>
          </p:nvPr>
        </p:nvSpPr>
        <p:spPr/>
        <p:txBody>
          <a:bodyPr/>
          <a:lstStyle/>
          <a:p>
            <a:fld id="{C8F35010-364B-470B-BB6C-DCBBE63D2E54}" type="slidenum">
              <a:rPr lang="en-US" smtClean="0">
                <a:solidFill>
                  <a:schemeClr val="tx1"/>
                </a:solidFill>
              </a:rPr>
              <a:t>6</a:t>
            </a:fld>
            <a:endParaRPr lang="en-US" dirty="0">
              <a:solidFill>
                <a:schemeClr val="tx1"/>
              </a:solidFill>
            </a:endParaRPr>
          </a:p>
        </p:txBody>
      </p:sp>
      <p:sp>
        <p:nvSpPr>
          <p:cNvPr id="4" name="TextBox 3">
            <a:extLst>
              <a:ext uri="{FF2B5EF4-FFF2-40B4-BE49-F238E27FC236}">
                <a16:creationId xmlns:a16="http://schemas.microsoft.com/office/drawing/2014/main" id="{693301B7-1D76-79F2-6395-99A9D3BDE511}"/>
              </a:ext>
            </a:extLst>
          </p:cNvPr>
          <p:cNvSpPr txBox="1"/>
          <p:nvPr/>
        </p:nvSpPr>
        <p:spPr>
          <a:xfrm>
            <a:off x="273074" y="1354574"/>
            <a:ext cx="11080725" cy="467820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rgbClr val="0187CC"/>
                </a:solidFill>
                <a:latin typeface="HK Grotesk"/>
              </a:rPr>
              <a:t>Key Features:</a:t>
            </a:r>
          </a:p>
          <a:p>
            <a:endParaRPr lang="en-US" sz="2800" dirty="0">
              <a:solidFill>
                <a:srgbClr val="0187CC"/>
              </a:solidFill>
              <a:latin typeface="HK Grotesk"/>
            </a:endParaRPr>
          </a:p>
          <a:p>
            <a:pPr marL="342900" indent="-342900">
              <a:buFont typeface="Arial" panose="020B0604020202020204" pitchFamily="34" charset="0"/>
              <a:buChar char="•"/>
            </a:pPr>
            <a:r>
              <a:rPr lang="en-US" sz="2200" dirty="0">
                <a:solidFill>
                  <a:srgbClr val="0187CC"/>
                </a:solidFill>
                <a:latin typeface="HK Grotesk"/>
              </a:rPr>
              <a:t>Secure authentication and authorization</a:t>
            </a:r>
          </a:p>
          <a:p>
            <a:pPr marL="342900" indent="-342900">
              <a:buFont typeface="Arial" panose="020B0604020202020204" pitchFamily="34" charset="0"/>
              <a:buChar char="•"/>
            </a:pPr>
            <a:endParaRPr lang="en-US" sz="2200" dirty="0">
              <a:solidFill>
                <a:srgbClr val="0187CC"/>
              </a:solidFill>
              <a:latin typeface="HK Grotesk"/>
            </a:endParaRPr>
          </a:p>
          <a:p>
            <a:pPr marL="342900" indent="-342900">
              <a:buFont typeface="Arial" panose="020B0604020202020204" pitchFamily="34" charset="0"/>
              <a:buChar char="•"/>
            </a:pPr>
            <a:r>
              <a:rPr lang="en-US" sz="2200" dirty="0">
                <a:solidFill>
                  <a:srgbClr val="0187CC"/>
                </a:solidFill>
                <a:latin typeface="HK Grotesk"/>
              </a:rPr>
              <a:t>Easy-to-use web interface</a:t>
            </a:r>
          </a:p>
          <a:p>
            <a:pPr marL="342900" indent="-342900">
              <a:buFont typeface="Arial" panose="020B0604020202020204" pitchFamily="34" charset="0"/>
              <a:buChar char="•"/>
            </a:pPr>
            <a:endParaRPr lang="en-US" sz="2200" dirty="0">
              <a:solidFill>
                <a:srgbClr val="0187CC"/>
              </a:solidFill>
              <a:latin typeface="HK Grotesk"/>
            </a:endParaRPr>
          </a:p>
          <a:p>
            <a:pPr marL="342900" indent="-342900">
              <a:buFont typeface="Arial" panose="020B0604020202020204" pitchFamily="34" charset="0"/>
              <a:buChar char="•"/>
            </a:pPr>
            <a:r>
              <a:rPr lang="en-US" sz="2200" dirty="0">
                <a:solidFill>
                  <a:srgbClr val="0187CC"/>
                </a:solidFill>
                <a:latin typeface="HK Grotesk"/>
              </a:rPr>
              <a:t>Real-time transaction updates</a:t>
            </a:r>
          </a:p>
          <a:p>
            <a:pPr marL="342900" indent="-342900">
              <a:buFont typeface="Arial" panose="020B0604020202020204" pitchFamily="34" charset="0"/>
              <a:buChar char="•"/>
            </a:pPr>
            <a:endParaRPr lang="en-US" sz="2200" dirty="0">
              <a:solidFill>
                <a:srgbClr val="0187CC"/>
              </a:solidFill>
              <a:latin typeface="HK Grotesk"/>
            </a:endParaRPr>
          </a:p>
          <a:p>
            <a:pPr marL="342900" indent="-342900">
              <a:buFont typeface="Arial" panose="020B0604020202020204" pitchFamily="34" charset="0"/>
              <a:buChar char="•"/>
            </a:pPr>
            <a:r>
              <a:rPr lang="en-US" sz="2200" dirty="0">
                <a:solidFill>
                  <a:srgbClr val="0187CC"/>
                </a:solidFill>
                <a:latin typeface="HK Grotesk"/>
              </a:rPr>
              <a:t>Centralized database for data storage</a:t>
            </a:r>
          </a:p>
          <a:p>
            <a:pPr marL="342900" indent="-342900">
              <a:buFont typeface="Arial" panose="020B0604020202020204" pitchFamily="34" charset="0"/>
              <a:buChar char="•"/>
            </a:pPr>
            <a:endParaRPr lang="en-US" sz="2200" dirty="0">
              <a:solidFill>
                <a:srgbClr val="0187CC"/>
              </a:solidFill>
              <a:latin typeface="HK Grotesk"/>
            </a:endParaRPr>
          </a:p>
          <a:p>
            <a:pPr marL="342900" indent="-342900">
              <a:buFont typeface="Arial" panose="020B0604020202020204" pitchFamily="34" charset="0"/>
              <a:buChar char="•"/>
            </a:pPr>
            <a:r>
              <a:rPr lang="en-US" sz="2200" dirty="0">
                <a:solidFill>
                  <a:srgbClr val="0187CC"/>
                </a:solidFill>
                <a:latin typeface="HK Grotesk"/>
              </a:rPr>
              <a:t>Error handling and data validation</a:t>
            </a:r>
          </a:p>
          <a:p>
            <a:pPr marL="342900" indent="-342900">
              <a:buFont typeface="Arial" panose="020B0604020202020204" pitchFamily="34" charset="0"/>
              <a:buChar char="•"/>
            </a:pPr>
            <a:endParaRPr lang="en-US" sz="2200" dirty="0">
              <a:solidFill>
                <a:srgbClr val="0187CC"/>
              </a:solidFill>
              <a:latin typeface="HK Grotesk"/>
            </a:endParaRPr>
          </a:p>
          <a:p>
            <a:pPr marL="342900" indent="-342900">
              <a:buFont typeface="Arial" panose="020B0604020202020204" pitchFamily="34" charset="0"/>
              <a:buChar char="•"/>
            </a:pPr>
            <a:r>
              <a:rPr lang="en-US" sz="2200" dirty="0">
                <a:solidFill>
                  <a:srgbClr val="0187CC"/>
                </a:solidFill>
                <a:latin typeface="HK Grotesk"/>
              </a:rPr>
              <a:t>Scalable architecture for future enhancements</a:t>
            </a:r>
          </a:p>
        </p:txBody>
      </p:sp>
    </p:spTree>
    <p:extLst>
      <p:ext uri="{BB962C8B-B14F-4D97-AF65-F5344CB8AC3E}">
        <p14:creationId xmlns:p14="http://schemas.microsoft.com/office/powerpoint/2010/main" val="41362342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1409B-E357-D8E7-041A-93EA5E76D793}"/>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94EBEF1C-BC52-3A23-1FC0-3A96C9458CAC}"/>
              </a:ext>
            </a:extLst>
          </p:cNvPr>
          <p:cNvSpPr/>
          <p:nvPr/>
        </p:nvSpPr>
        <p:spPr>
          <a:xfrm>
            <a:off x="273075" y="211475"/>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Banking Management System</a:t>
            </a:r>
          </a:p>
        </p:txBody>
      </p:sp>
      <p:pic>
        <p:nvPicPr>
          <p:cNvPr id="2" name="Picture 1" descr="Logo&#10;&#10;Description automatically generated">
            <a:extLst>
              <a:ext uri="{FF2B5EF4-FFF2-40B4-BE49-F238E27FC236}">
                <a16:creationId xmlns:a16="http://schemas.microsoft.com/office/drawing/2014/main" id="{D1020D05-0C19-8225-3590-4CE5E32D0E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2AB15DF5-9C21-2121-A6AC-3C66A205D465}"/>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ABDFE191-6A71-466C-E4CA-411704FAB4B3}"/>
              </a:ext>
            </a:extLst>
          </p:cNvPr>
          <p:cNvSpPr>
            <a:spLocks noGrp="1"/>
          </p:cNvSpPr>
          <p:nvPr>
            <p:ph type="sldNum" sz="quarter" idx="12"/>
          </p:nvPr>
        </p:nvSpPr>
        <p:spPr/>
        <p:txBody>
          <a:bodyPr/>
          <a:lstStyle/>
          <a:p>
            <a:fld id="{C8F35010-364B-470B-BB6C-DCBBE63D2E54}" type="slidenum">
              <a:rPr lang="en-US" smtClean="0">
                <a:solidFill>
                  <a:schemeClr val="tx1"/>
                </a:solidFill>
              </a:rPr>
              <a:t>7</a:t>
            </a:fld>
            <a:endParaRPr lang="en-US" dirty="0">
              <a:solidFill>
                <a:schemeClr val="tx1"/>
              </a:solidFill>
            </a:endParaRPr>
          </a:p>
        </p:txBody>
      </p:sp>
      <p:sp>
        <p:nvSpPr>
          <p:cNvPr id="4" name="TextBox 3">
            <a:extLst>
              <a:ext uri="{FF2B5EF4-FFF2-40B4-BE49-F238E27FC236}">
                <a16:creationId xmlns:a16="http://schemas.microsoft.com/office/drawing/2014/main" id="{0DBEB9DB-0A13-2385-7C75-187943915796}"/>
              </a:ext>
            </a:extLst>
          </p:cNvPr>
          <p:cNvSpPr txBox="1"/>
          <p:nvPr/>
        </p:nvSpPr>
        <p:spPr>
          <a:xfrm>
            <a:off x="273075" y="971116"/>
            <a:ext cx="11080725" cy="501675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rgbClr val="0187CC"/>
                </a:solidFill>
                <a:latin typeface="HK Grotesk"/>
              </a:rPr>
              <a:t>RESTful API-Based Architecture:</a:t>
            </a:r>
          </a:p>
          <a:p>
            <a:endParaRPr lang="en-US" sz="2800" dirty="0">
              <a:solidFill>
                <a:srgbClr val="0187CC"/>
              </a:solidFill>
              <a:latin typeface="HK Grotesk"/>
            </a:endParaRPr>
          </a:p>
          <a:p>
            <a:pPr marL="342900" indent="-342900">
              <a:buFont typeface="Arial" panose="020B0604020202020204" pitchFamily="34" charset="0"/>
              <a:buChar char="•"/>
            </a:pPr>
            <a:r>
              <a:rPr lang="en-US" sz="2200" dirty="0">
                <a:solidFill>
                  <a:srgbClr val="0187CC"/>
                </a:solidFill>
                <a:latin typeface="HK Grotesk"/>
              </a:rPr>
              <a:t>The project follows a RESTful API architecture, where:</a:t>
            </a:r>
          </a:p>
          <a:p>
            <a:endParaRPr lang="en-US" sz="2200" dirty="0">
              <a:solidFill>
                <a:srgbClr val="0187CC"/>
              </a:solidFill>
              <a:latin typeface="HK Grotesk"/>
            </a:endParaRPr>
          </a:p>
          <a:p>
            <a:pPr marL="342900" indent="-342900">
              <a:buFont typeface="Arial" panose="020B0604020202020204" pitchFamily="34" charset="0"/>
              <a:buChar char="•"/>
            </a:pPr>
            <a:r>
              <a:rPr lang="en-US" sz="2200" dirty="0">
                <a:solidFill>
                  <a:srgbClr val="0187CC"/>
                </a:solidFill>
                <a:latin typeface="HK Grotesk"/>
              </a:rPr>
              <a:t>Each operation is mapped to an HTTP method:</a:t>
            </a:r>
          </a:p>
          <a:p>
            <a:pPr marL="342900" indent="-342900">
              <a:buFont typeface="Arial" panose="020B0604020202020204" pitchFamily="34" charset="0"/>
              <a:buChar char="•"/>
            </a:pPr>
            <a:r>
              <a:rPr lang="en-US" sz="2200" dirty="0">
                <a:solidFill>
                  <a:srgbClr val="0187CC"/>
                </a:solidFill>
                <a:latin typeface="HK Grotesk"/>
              </a:rPr>
              <a:t>POST → Add Customer, Account</a:t>
            </a:r>
          </a:p>
          <a:p>
            <a:pPr marL="342900" indent="-342900">
              <a:buFont typeface="Arial" panose="020B0604020202020204" pitchFamily="34" charset="0"/>
              <a:buChar char="•"/>
            </a:pPr>
            <a:r>
              <a:rPr lang="en-US" sz="2200" dirty="0">
                <a:solidFill>
                  <a:srgbClr val="0187CC"/>
                </a:solidFill>
                <a:latin typeface="HK Grotesk"/>
              </a:rPr>
              <a:t>GET → View Customer, Account(s)</a:t>
            </a:r>
          </a:p>
          <a:p>
            <a:pPr marL="342900" indent="-342900">
              <a:buFont typeface="Arial" panose="020B0604020202020204" pitchFamily="34" charset="0"/>
              <a:buChar char="•"/>
            </a:pPr>
            <a:r>
              <a:rPr lang="en-US" sz="2200" dirty="0">
                <a:solidFill>
                  <a:srgbClr val="0187CC"/>
                </a:solidFill>
                <a:latin typeface="HK Grotesk"/>
              </a:rPr>
              <a:t>PUT → Update Account Details</a:t>
            </a:r>
          </a:p>
          <a:p>
            <a:pPr marL="342900" indent="-342900">
              <a:buFont typeface="Arial" panose="020B0604020202020204" pitchFamily="34" charset="0"/>
              <a:buChar char="•"/>
            </a:pPr>
            <a:r>
              <a:rPr lang="en-US" sz="2200" dirty="0">
                <a:solidFill>
                  <a:srgbClr val="0187CC"/>
                </a:solidFill>
                <a:latin typeface="HK Grotesk"/>
              </a:rPr>
              <a:t>DELETE → Delete Customer, Account</a:t>
            </a:r>
          </a:p>
          <a:p>
            <a:endParaRPr lang="en-US" sz="2200" dirty="0">
              <a:solidFill>
                <a:srgbClr val="0187CC"/>
              </a:solidFill>
              <a:latin typeface="HK Grotesk"/>
            </a:endParaRPr>
          </a:p>
          <a:p>
            <a:pPr marL="342900" indent="-342900">
              <a:buFont typeface="Arial" panose="020B0604020202020204" pitchFamily="34" charset="0"/>
              <a:buChar char="•"/>
            </a:pPr>
            <a:r>
              <a:rPr lang="en-US" sz="2200" dirty="0">
                <a:solidFill>
                  <a:srgbClr val="0187CC"/>
                </a:solidFill>
                <a:latin typeface="HK Grotesk"/>
              </a:rPr>
              <a:t>APIs return JSON responses</a:t>
            </a:r>
          </a:p>
          <a:p>
            <a:pPr marL="342900" indent="-342900">
              <a:buFont typeface="Arial" panose="020B0604020202020204" pitchFamily="34" charset="0"/>
              <a:buChar char="•"/>
            </a:pPr>
            <a:r>
              <a:rPr lang="en-US" sz="2200" dirty="0">
                <a:solidFill>
                  <a:srgbClr val="0187CC"/>
                </a:solidFill>
                <a:latin typeface="HK Grotesk"/>
              </a:rPr>
              <a:t>Stateless communication is maintained</a:t>
            </a:r>
          </a:p>
          <a:p>
            <a:pPr marL="342900" indent="-342900">
              <a:buFont typeface="Arial" panose="020B0604020202020204" pitchFamily="34" charset="0"/>
              <a:buChar char="•"/>
            </a:pPr>
            <a:r>
              <a:rPr lang="en-US" sz="2200" dirty="0">
                <a:solidFill>
                  <a:srgbClr val="0187CC"/>
                </a:solidFill>
                <a:latin typeface="HK Grotesk"/>
              </a:rPr>
              <a:t>Clear separation between frontend and backend</a:t>
            </a:r>
          </a:p>
          <a:p>
            <a:pPr marL="342900" indent="-342900">
              <a:buFont typeface="Arial" panose="020B0604020202020204" pitchFamily="34" charset="0"/>
              <a:buChar char="•"/>
            </a:pPr>
            <a:r>
              <a:rPr lang="en-US" sz="2200" dirty="0">
                <a:solidFill>
                  <a:srgbClr val="0187CC"/>
                </a:solidFill>
                <a:latin typeface="HK Grotesk"/>
              </a:rPr>
              <a:t>This architecture improves scalability, maintainability, and reusability of the application.</a:t>
            </a:r>
          </a:p>
        </p:txBody>
      </p:sp>
    </p:spTree>
    <p:extLst>
      <p:ext uri="{BB962C8B-B14F-4D97-AF65-F5344CB8AC3E}">
        <p14:creationId xmlns:p14="http://schemas.microsoft.com/office/powerpoint/2010/main" val="1492378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776DE-CB1D-471D-7636-A08116EF5457}"/>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A93747DE-CC26-2DC4-057D-78171454B9C3}"/>
              </a:ext>
            </a:extLst>
          </p:cNvPr>
          <p:cNvSpPr/>
          <p:nvPr/>
        </p:nvSpPr>
        <p:spPr>
          <a:xfrm>
            <a:off x="273075" y="211475"/>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Banking Management System</a:t>
            </a:r>
          </a:p>
        </p:txBody>
      </p:sp>
      <p:pic>
        <p:nvPicPr>
          <p:cNvPr id="2" name="Picture 1" descr="Logo&#10;&#10;Description automatically generated">
            <a:extLst>
              <a:ext uri="{FF2B5EF4-FFF2-40B4-BE49-F238E27FC236}">
                <a16:creationId xmlns:a16="http://schemas.microsoft.com/office/drawing/2014/main" id="{DACCAF1A-446D-56BD-D5BA-50A5B5DC4B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BA1D7C51-C6BA-A8FB-40A6-99483D811B96}"/>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D85D762D-29A7-9B88-E096-3A314365B959}"/>
              </a:ext>
            </a:extLst>
          </p:cNvPr>
          <p:cNvSpPr>
            <a:spLocks noGrp="1"/>
          </p:cNvSpPr>
          <p:nvPr>
            <p:ph type="sldNum" sz="quarter" idx="12"/>
          </p:nvPr>
        </p:nvSpPr>
        <p:spPr/>
        <p:txBody>
          <a:bodyPr/>
          <a:lstStyle/>
          <a:p>
            <a:fld id="{C8F35010-364B-470B-BB6C-DCBBE63D2E54}" type="slidenum">
              <a:rPr lang="en-US" smtClean="0">
                <a:solidFill>
                  <a:schemeClr val="tx1"/>
                </a:solidFill>
              </a:rPr>
              <a:t>8</a:t>
            </a:fld>
            <a:endParaRPr lang="en-US" dirty="0">
              <a:solidFill>
                <a:schemeClr val="tx1"/>
              </a:solidFill>
            </a:endParaRPr>
          </a:p>
        </p:txBody>
      </p:sp>
      <p:sp>
        <p:nvSpPr>
          <p:cNvPr id="4" name="TextBox 3">
            <a:extLst>
              <a:ext uri="{FF2B5EF4-FFF2-40B4-BE49-F238E27FC236}">
                <a16:creationId xmlns:a16="http://schemas.microsoft.com/office/drawing/2014/main" id="{8F669AB0-01B7-BCB2-BE1C-6077C34B14D3}"/>
              </a:ext>
            </a:extLst>
          </p:cNvPr>
          <p:cNvSpPr txBox="1"/>
          <p:nvPr/>
        </p:nvSpPr>
        <p:spPr>
          <a:xfrm>
            <a:off x="273075" y="971116"/>
            <a:ext cx="11080725" cy="501675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rgbClr val="0187CC"/>
                </a:solidFill>
                <a:latin typeface="HK Grotesk"/>
              </a:rPr>
              <a:t>Technology Stack:</a:t>
            </a:r>
          </a:p>
          <a:p>
            <a:endParaRPr lang="en-US" sz="2800" dirty="0">
              <a:solidFill>
                <a:srgbClr val="0187CC"/>
              </a:solidFill>
              <a:latin typeface="HK Grotesk"/>
            </a:endParaRPr>
          </a:p>
          <a:p>
            <a:r>
              <a:rPr lang="en-US" sz="2200" dirty="0">
                <a:solidFill>
                  <a:srgbClr val="0187CC"/>
                </a:solidFill>
                <a:latin typeface="HK Grotesk"/>
              </a:rPr>
              <a:t>1.</a:t>
            </a:r>
            <a:r>
              <a:rPr lang="en-US" sz="2200" u="sng" dirty="0">
                <a:solidFill>
                  <a:srgbClr val="0187CC"/>
                </a:solidFill>
                <a:latin typeface="HK Grotesk"/>
              </a:rPr>
              <a:t>Frontend</a:t>
            </a:r>
          </a:p>
          <a:p>
            <a:pPr marL="342900" indent="-342900">
              <a:buFont typeface="Arial" panose="020B0604020202020204" pitchFamily="34" charset="0"/>
              <a:buChar char="•"/>
            </a:pPr>
            <a:r>
              <a:rPr lang="en-US" sz="2200" dirty="0">
                <a:solidFill>
                  <a:srgbClr val="0187CC"/>
                </a:solidFill>
                <a:latin typeface="HK Grotesk"/>
              </a:rPr>
              <a:t>Angular</a:t>
            </a:r>
          </a:p>
          <a:p>
            <a:pPr marL="342900" indent="-342900">
              <a:buFont typeface="Arial" panose="020B0604020202020204" pitchFamily="34" charset="0"/>
              <a:buChar char="•"/>
            </a:pPr>
            <a:r>
              <a:rPr lang="en-US" sz="2200" dirty="0">
                <a:solidFill>
                  <a:srgbClr val="0187CC"/>
                </a:solidFill>
                <a:latin typeface="HK Grotesk"/>
              </a:rPr>
              <a:t>TypeScript</a:t>
            </a:r>
          </a:p>
          <a:p>
            <a:pPr marL="342900" indent="-342900">
              <a:buFont typeface="Arial" panose="020B0604020202020204" pitchFamily="34" charset="0"/>
              <a:buChar char="•"/>
            </a:pPr>
            <a:r>
              <a:rPr lang="en-US" sz="2200" dirty="0">
                <a:solidFill>
                  <a:srgbClr val="0187CC"/>
                </a:solidFill>
                <a:latin typeface="HK Grotesk"/>
              </a:rPr>
              <a:t>HTML, CSS, Bootstrap</a:t>
            </a:r>
          </a:p>
          <a:p>
            <a:endParaRPr lang="en-US" sz="2200" dirty="0">
              <a:solidFill>
                <a:srgbClr val="0187CC"/>
              </a:solidFill>
              <a:latin typeface="HK Grotesk"/>
            </a:endParaRPr>
          </a:p>
          <a:p>
            <a:r>
              <a:rPr lang="en-US" sz="2200" dirty="0">
                <a:solidFill>
                  <a:srgbClr val="0187CC"/>
                </a:solidFill>
                <a:latin typeface="HK Grotesk"/>
              </a:rPr>
              <a:t>2.</a:t>
            </a:r>
            <a:r>
              <a:rPr lang="en-US" sz="2200" u="sng" dirty="0">
                <a:solidFill>
                  <a:srgbClr val="0187CC"/>
                </a:solidFill>
                <a:latin typeface="HK Grotesk"/>
              </a:rPr>
              <a:t>Backend  </a:t>
            </a:r>
            <a:r>
              <a:rPr lang="en-US" sz="2200" dirty="0">
                <a:solidFill>
                  <a:srgbClr val="0187CC"/>
                </a:solidFill>
                <a:latin typeface="HK Grotesk"/>
              </a:rPr>
              <a:t>                                                                               4. </a:t>
            </a:r>
            <a:r>
              <a:rPr lang="en-US" sz="2200" u="sng" dirty="0">
                <a:solidFill>
                  <a:srgbClr val="0187CC"/>
                </a:solidFill>
                <a:latin typeface="HK Grotesk"/>
              </a:rPr>
              <a:t>DevOps &amp; Deployment</a:t>
            </a:r>
          </a:p>
          <a:p>
            <a:pPr marL="342900" indent="-342900">
              <a:buFont typeface="Arial" panose="020B0604020202020204" pitchFamily="34" charset="0"/>
              <a:buChar char="•"/>
            </a:pPr>
            <a:r>
              <a:rPr lang="en-US" sz="2200" dirty="0">
                <a:solidFill>
                  <a:srgbClr val="0187CC"/>
                </a:solidFill>
                <a:latin typeface="HK Grotesk"/>
              </a:rPr>
              <a:t>Spring Boot                                                                          - Docker (Containerization)</a:t>
            </a:r>
          </a:p>
          <a:p>
            <a:pPr marL="342900" indent="-342900">
              <a:buFont typeface="Arial" panose="020B0604020202020204" pitchFamily="34" charset="0"/>
              <a:buChar char="•"/>
            </a:pPr>
            <a:r>
              <a:rPr lang="en-US" sz="2200" dirty="0">
                <a:solidFill>
                  <a:srgbClr val="0187CC"/>
                </a:solidFill>
                <a:latin typeface="HK Grotesk"/>
              </a:rPr>
              <a:t>Spring Data JPA                                                                   - Microsoft Azure App Service</a:t>
            </a:r>
          </a:p>
          <a:p>
            <a:pPr marL="342900" indent="-342900">
              <a:buFont typeface="Arial" panose="020B0604020202020204" pitchFamily="34" charset="0"/>
              <a:buChar char="•"/>
            </a:pPr>
            <a:r>
              <a:rPr lang="en-US" sz="2200" dirty="0">
                <a:solidFill>
                  <a:srgbClr val="0187CC"/>
                </a:solidFill>
                <a:latin typeface="HK Grotesk"/>
              </a:rPr>
              <a:t>REST APIs</a:t>
            </a:r>
          </a:p>
          <a:p>
            <a:endParaRPr lang="en-US" sz="2200" dirty="0">
              <a:solidFill>
                <a:srgbClr val="0187CC"/>
              </a:solidFill>
              <a:latin typeface="HK Grotesk"/>
            </a:endParaRPr>
          </a:p>
          <a:p>
            <a:r>
              <a:rPr lang="en-US" sz="2200" dirty="0">
                <a:solidFill>
                  <a:srgbClr val="0187CC"/>
                </a:solidFill>
                <a:latin typeface="HK Grotesk"/>
              </a:rPr>
              <a:t>3.</a:t>
            </a:r>
            <a:r>
              <a:rPr lang="en-US" sz="2200" u="sng" dirty="0">
                <a:solidFill>
                  <a:srgbClr val="0187CC"/>
                </a:solidFill>
                <a:latin typeface="HK Grotesk"/>
              </a:rPr>
              <a:t>Database</a:t>
            </a:r>
          </a:p>
          <a:p>
            <a:pPr marL="342900" indent="-342900">
              <a:buFont typeface="Arial" panose="020B0604020202020204" pitchFamily="34" charset="0"/>
              <a:buChar char="•"/>
            </a:pPr>
            <a:r>
              <a:rPr lang="en-US" sz="2200" dirty="0">
                <a:solidFill>
                  <a:srgbClr val="0187CC"/>
                </a:solidFill>
                <a:latin typeface="HK Grotesk"/>
              </a:rPr>
              <a:t>MySQL/ H2</a:t>
            </a:r>
          </a:p>
        </p:txBody>
      </p:sp>
    </p:spTree>
    <p:extLst>
      <p:ext uri="{BB962C8B-B14F-4D97-AF65-F5344CB8AC3E}">
        <p14:creationId xmlns:p14="http://schemas.microsoft.com/office/powerpoint/2010/main" val="1001191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59DC2-CEB1-4C9E-E6BD-E2EB04BDBD60}"/>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D792C2B5-0E1E-395F-4878-1FFD5B3F8BA3}"/>
              </a:ext>
            </a:extLst>
          </p:cNvPr>
          <p:cNvSpPr/>
          <p:nvPr/>
        </p:nvSpPr>
        <p:spPr>
          <a:xfrm>
            <a:off x="273075" y="211475"/>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Banking Management System</a:t>
            </a:r>
          </a:p>
        </p:txBody>
      </p:sp>
      <p:pic>
        <p:nvPicPr>
          <p:cNvPr id="2" name="Picture 1" descr="Logo&#10;&#10;Description automatically generated">
            <a:extLst>
              <a:ext uri="{FF2B5EF4-FFF2-40B4-BE49-F238E27FC236}">
                <a16:creationId xmlns:a16="http://schemas.microsoft.com/office/drawing/2014/main" id="{E28A7DE0-EE2B-EE6C-AB9B-E7957A1AD1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BAC7DAD6-6BD0-3C2F-DE03-F23A448BAE95}"/>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0D384713-09BB-6412-BA30-85445FC37BA4}"/>
              </a:ext>
            </a:extLst>
          </p:cNvPr>
          <p:cNvSpPr>
            <a:spLocks noGrp="1"/>
          </p:cNvSpPr>
          <p:nvPr>
            <p:ph type="sldNum" sz="quarter" idx="12"/>
          </p:nvPr>
        </p:nvSpPr>
        <p:spPr/>
        <p:txBody>
          <a:bodyPr/>
          <a:lstStyle/>
          <a:p>
            <a:fld id="{C8F35010-364B-470B-BB6C-DCBBE63D2E54}" type="slidenum">
              <a:rPr lang="en-US" smtClean="0">
                <a:solidFill>
                  <a:schemeClr val="tx1"/>
                </a:solidFill>
              </a:rPr>
              <a:t>9</a:t>
            </a:fld>
            <a:endParaRPr lang="en-US" dirty="0">
              <a:solidFill>
                <a:schemeClr val="tx1"/>
              </a:solidFill>
            </a:endParaRPr>
          </a:p>
        </p:txBody>
      </p:sp>
      <p:sp>
        <p:nvSpPr>
          <p:cNvPr id="4" name="TextBox 3">
            <a:extLst>
              <a:ext uri="{FF2B5EF4-FFF2-40B4-BE49-F238E27FC236}">
                <a16:creationId xmlns:a16="http://schemas.microsoft.com/office/drawing/2014/main" id="{F4BA4F68-A995-6CA7-7245-10CA9773B873}"/>
              </a:ext>
            </a:extLst>
          </p:cNvPr>
          <p:cNvSpPr txBox="1"/>
          <p:nvPr/>
        </p:nvSpPr>
        <p:spPr>
          <a:xfrm>
            <a:off x="273075" y="1236587"/>
            <a:ext cx="11080725" cy="467820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rgbClr val="0187CC"/>
                </a:solidFill>
                <a:latin typeface="HK Grotesk"/>
              </a:rPr>
              <a:t>User Interface:</a:t>
            </a:r>
          </a:p>
          <a:p>
            <a:endParaRPr lang="en-US" sz="2800" dirty="0">
              <a:solidFill>
                <a:srgbClr val="0187CC"/>
              </a:solidFill>
              <a:latin typeface="HK Grotesk"/>
            </a:endParaRPr>
          </a:p>
          <a:p>
            <a:pPr marL="342900" indent="-342900">
              <a:buFont typeface="Arial" panose="020B0604020202020204" pitchFamily="34" charset="0"/>
              <a:buChar char="•"/>
            </a:pPr>
            <a:r>
              <a:rPr lang="en-US" sz="2200" dirty="0">
                <a:solidFill>
                  <a:srgbClr val="0187CC"/>
                </a:solidFill>
                <a:latin typeface="HK Grotesk"/>
              </a:rPr>
              <a:t>The user interface of the Banking Account Management System is designed with a focus on simplicity, clarity, and ease of use. It provides a clean layout that helps users understand and access different banking features without difficulty. The interface includes well-structured pages such as login, dashboard, account details, and transaction pages. Each page is designed to guide the user step by step while performing banking operations.</a:t>
            </a:r>
          </a:p>
          <a:p>
            <a:pPr marL="342900" indent="-342900">
              <a:buFont typeface="Arial" panose="020B0604020202020204" pitchFamily="34" charset="0"/>
              <a:buChar char="•"/>
            </a:pPr>
            <a:endParaRPr lang="en-US" sz="2200" dirty="0">
              <a:solidFill>
                <a:srgbClr val="0187CC"/>
              </a:solidFill>
              <a:latin typeface="HK Grotesk"/>
            </a:endParaRPr>
          </a:p>
          <a:p>
            <a:pPr marL="342900" indent="-342900">
              <a:buFont typeface="Arial" panose="020B0604020202020204" pitchFamily="34" charset="0"/>
              <a:buChar char="•"/>
            </a:pPr>
            <a:r>
              <a:rPr lang="en-US" sz="2200" dirty="0">
                <a:solidFill>
                  <a:srgbClr val="0187CC"/>
                </a:solidFill>
                <a:latin typeface="HK Grotesk"/>
              </a:rPr>
              <a:t>The system uses forms, buttons, and navigation menus that are easy to understand and interact with. Clear labels and validation messages are provided to avoid user mistakes while entering data. The interface ensures that important information such as account balance and transaction history is displayed clearly. Overall, the user interface enhances user experience by making banking operations smooth, fast, and user-friendly.</a:t>
            </a:r>
          </a:p>
        </p:txBody>
      </p:sp>
    </p:spTree>
    <p:extLst>
      <p:ext uri="{BB962C8B-B14F-4D97-AF65-F5344CB8AC3E}">
        <p14:creationId xmlns:p14="http://schemas.microsoft.com/office/powerpoint/2010/main" val="40897777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64F4D-0666-C176-77D8-7F9EA410D025}"/>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7AFA3F4A-4940-8883-C3DE-E962C7607143}"/>
              </a:ext>
            </a:extLst>
          </p:cNvPr>
          <p:cNvSpPr/>
          <p:nvPr/>
        </p:nvSpPr>
        <p:spPr>
          <a:xfrm>
            <a:off x="273075" y="211475"/>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Banking Management System</a:t>
            </a:r>
          </a:p>
        </p:txBody>
      </p:sp>
      <p:pic>
        <p:nvPicPr>
          <p:cNvPr id="2" name="Picture 1" descr="Logo&#10;&#10;Description automatically generated">
            <a:extLst>
              <a:ext uri="{FF2B5EF4-FFF2-40B4-BE49-F238E27FC236}">
                <a16:creationId xmlns:a16="http://schemas.microsoft.com/office/drawing/2014/main" id="{F535D18E-0571-6D6F-AD92-6DA0140123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8BD49C45-B6C3-570B-505A-D514AD678A16}"/>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1F762D2D-C9FE-2F56-10BE-22D5A19D1C6E}"/>
              </a:ext>
            </a:extLst>
          </p:cNvPr>
          <p:cNvSpPr>
            <a:spLocks noGrp="1"/>
          </p:cNvSpPr>
          <p:nvPr>
            <p:ph type="sldNum" sz="quarter" idx="12"/>
          </p:nvPr>
        </p:nvSpPr>
        <p:spPr/>
        <p:txBody>
          <a:bodyPr/>
          <a:lstStyle/>
          <a:p>
            <a:fld id="{C8F35010-364B-470B-BB6C-DCBBE63D2E54}" type="slidenum">
              <a:rPr lang="en-US" smtClean="0">
                <a:solidFill>
                  <a:schemeClr val="tx1"/>
                </a:solidFill>
              </a:rPr>
              <a:t>10</a:t>
            </a:fld>
            <a:endParaRPr lang="en-US" dirty="0">
              <a:solidFill>
                <a:schemeClr val="tx1"/>
              </a:solidFill>
            </a:endParaRPr>
          </a:p>
        </p:txBody>
      </p:sp>
      <p:sp>
        <p:nvSpPr>
          <p:cNvPr id="4" name="TextBox 3">
            <a:extLst>
              <a:ext uri="{FF2B5EF4-FFF2-40B4-BE49-F238E27FC236}">
                <a16:creationId xmlns:a16="http://schemas.microsoft.com/office/drawing/2014/main" id="{165AC121-0906-10C3-B7B9-9E98193802F5}"/>
              </a:ext>
            </a:extLst>
          </p:cNvPr>
          <p:cNvSpPr txBox="1"/>
          <p:nvPr/>
        </p:nvSpPr>
        <p:spPr>
          <a:xfrm>
            <a:off x="273075" y="971116"/>
            <a:ext cx="11080725" cy="535531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rgbClr val="0187CC"/>
                </a:solidFill>
                <a:latin typeface="HK Grotesk"/>
              </a:rPr>
              <a:t>Application Workflow:</a:t>
            </a:r>
          </a:p>
          <a:p>
            <a:endParaRPr lang="en-US" sz="2800" dirty="0">
              <a:solidFill>
                <a:srgbClr val="0187CC"/>
              </a:solidFill>
              <a:latin typeface="HK Grotesk"/>
            </a:endParaRPr>
          </a:p>
          <a:p>
            <a:r>
              <a:rPr lang="en-US" sz="2200" dirty="0">
                <a:solidFill>
                  <a:srgbClr val="0187CC"/>
                </a:solidFill>
                <a:latin typeface="HK Grotesk"/>
              </a:rPr>
              <a:t>In the Banking Account Management System, the user workflow starts with the administrator. The admin is responsible for creating customer accounts in the system. During account creation, the admin defines important details such as customer information and account type, for example savings account or current account. Once the account is created, the system generates a unique customer ID and login credentials for the user.</a:t>
            </a:r>
          </a:p>
          <a:p>
            <a:endParaRPr lang="en-US" sz="2200" dirty="0">
              <a:solidFill>
                <a:srgbClr val="0187CC"/>
              </a:solidFill>
              <a:latin typeface="HK Grotesk"/>
            </a:endParaRPr>
          </a:p>
          <a:p>
            <a:r>
              <a:rPr lang="en-US" sz="2200" dirty="0">
                <a:solidFill>
                  <a:srgbClr val="0187CC"/>
                </a:solidFill>
                <a:latin typeface="HK Grotesk"/>
              </a:rPr>
              <a:t>After receiving the customer ID and password from the admin, the user logs into the system using these credentials. Upon successful login, the user is redirected to the dashboard where account details such as account type and available balance are displayed. The user can then perform self-transfer operations within their own accounts and view their transaction history. Each transaction is processed securely by the backend and stored in the database. The user can view updated balances and past transactions in real time, ensuring transparency and ease of account management.</a:t>
            </a:r>
          </a:p>
        </p:txBody>
      </p:sp>
    </p:spTree>
    <p:extLst>
      <p:ext uri="{BB962C8B-B14F-4D97-AF65-F5344CB8AC3E}">
        <p14:creationId xmlns:p14="http://schemas.microsoft.com/office/powerpoint/2010/main" val="29199868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07200-BC01-1039-9FB5-FFB92C6BD95A}"/>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7E5A152F-FB38-EC39-419D-4D654D47EF80}"/>
              </a:ext>
            </a:extLst>
          </p:cNvPr>
          <p:cNvSpPr/>
          <p:nvPr/>
        </p:nvSpPr>
        <p:spPr>
          <a:xfrm>
            <a:off x="273075" y="211475"/>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Banking Management System</a:t>
            </a:r>
          </a:p>
        </p:txBody>
      </p:sp>
      <p:pic>
        <p:nvPicPr>
          <p:cNvPr id="2" name="Picture 1" descr="Logo&#10;&#10;Description automatically generated">
            <a:extLst>
              <a:ext uri="{FF2B5EF4-FFF2-40B4-BE49-F238E27FC236}">
                <a16:creationId xmlns:a16="http://schemas.microsoft.com/office/drawing/2014/main" id="{59CB2A5F-E417-87FB-D5E6-E220EEB744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B2BF1671-0C5B-718A-AF4A-6E1B855BC469}"/>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B5552455-28C4-852F-E7C1-75813EB5272B}"/>
              </a:ext>
            </a:extLst>
          </p:cNvPr>
          <p:cNvSpPr>
            <a:spLocks noGrp="1"/>
          </p:cNvSpPr>
          <p:nvPr>
            <p:ph type="sldNum" sz="quarter" idx="12"/>
          </p:nvPr>
        </p:nvSpPr>
        <p:spPr/>
        <p:txBody>
          <a:bodyPr/>
          <a:lstStyle/>
          <a:p>
            <a:fld id="{C8F35010-364B-470B-BB6C-DCBBE63D2E54}" type="slidenum">
              <a:rPr lang="en-US" smtClean="0">
                <a:solidFill>
                  <a:schemeClr val="tx1"/>
                </a:solidFill>
              </a:rPr>
              <a:t>11</a:t>
            </a:fld>
            <a:endParaRPr lang="en-US" dirty="0">
              <a:solidFill>
                <a:schemeClr val="tx1"/>
              </a:solidFill>
            </a:endParaRPr>
          </a:p>
        </p:txBody>
      </p:sp>
      <p:sp>
        <p:nvSpPr>
          <p:cNvPr id="4" name="TextBox 3">
            <a:extLst>
              <a:ext uri="{FF2B5EF4-FFF2-40B4-BE49-F238E27FC236}">
                <a16:creationId xmlns:a16="http://schemas.microsoft.com/office/drawing/2014/main" id="{391CC3A1-1F98-6AE5-CC88-A4171EBDC2C6}"/>
              </a:ext>
            </a:extLst>
          </p:cNvPr>
          <p:cNvSpPr txBox="1"/>
          <p:nvPr/>
        </p:nvSpPr>
        <p:spPr>
          <a:xfrm>
            <a:off x="273075" y="971116"/>
            <a:ext cx="11080725" cy="467820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rgbClr val="0187CC"/>
                </a:solidFill>
                <a:latin typeface="HK Grotesk"/>
              </a:rPr>
              <a:t>DevOps &amp; Deployment:</a:t>
            </a:r>
          </a:p>
          <a:p>
            <a:endParaRPr lang="en-US" sz="2800" dirty="0">
              <a:solidFill>
                <a:srgbClr val="0187CC"/>
              </a:solidFill>
              <a:latin typeface="HK Grotesk"/>
            </a:endParaRPr>
          </a:p>
          <a:p>
            <a:r>
              <a:rPr lang="en-US" sz="2200" dirty="0">
                <a:solidFill>
                  <a:srgbClr val="0187CC"/>
                </a:solidFill>
                <a:latin typeface="HK Grotesk"/>
              </a:rPr>
              <a:t>Docker:</a:t>
            </a:r>
          </a:p>
          <a:p>
            <a:pPr marL="342900" indent="-342900">
              <a:buFont typeface="Arial" panose="020B0604020202020204" pitchFamily="34" charset="0"/>
              <a:buChar char="•"/>
            </a:pPr>
            <a:r>
              <a:rPr lang="en-US" sz="2200" dirty="0">
                <a:solidFill>
                  <a:srgbClr val="0187CC"/>
                </a:solidFill>
                <a:latin typeface="HK Grotesk"/>
              </a:rPr>
              <a:t>Containerizes frontend and backend applications</a:t>
            </a:r>
          </a:p>
          <a:p>
            <a:pPr marL="342900" indent="-342900">
              <a:buFont typeface="Arial" panose="020B0604020202020204" pitchFamily="34" charset="0"/>
              <a:buChar char="•"/>
            </a:pPr>
            <a:r>
              <a:rPr lang="en-US" sz="2200" dirty="0">
                <a:solidFill>
                  <a:srgbClr val="0187CC"/>
                </a:solidFill>
                <a:latin typeface="HK Grotesk"/>
              </a:rPr>
              <a:t>Ensures consistent environment across development and production</a:t>
            </a:r>
          </a:p>
          <a:p>
            <a:pPr marL="342900" indent="-342900">
              <a:buFont typeface="Arial" panose="020B0604020202020204" pitchFamily="34" charset="0"/>
              <a:buChar char="•"/>
            </a:pPr>
            <a:r>
              <a:rPr lang="en-US" sz="2200" dirty="0">
                <a:solidFill>
                  <a:srgbClr val="0187CC"/>
                </a:solidFill>
                <a:latin typeface="HK Grotesk"/>
              </a:rPr>
              <a:t>Simplifies deployment process</a:t>
            </a:r>
          </a:p>
          <a:p>
            <a:endParaRPr lang="en-US" sz="2200" dirty="0">
              <a:solidFill>
                <a:srgbClr val="0187CC"/>
              </a:solidFill>
              <a:latin typeface="HK Grotesk"/>
            </a:endParaRPr>
          </a:p>
          <a:p>
            <a:r>
              <a:rPr lang="en-US" sz="2200" dirty="0">
                <a:solidFill>
                  <a:srgbClr val="0187CC"/>
                </a:solidFill>
                <a:latin typeface="HK Grotesk"/>
              </a:rPr>
              <a:t>Azure:</a:t>
            </a:r>
          </a:p>
          <a:p>
            <a:pPr marL="342900" indent="-342900">
              <a:buFont typeface="Arial" panose="020B0604020202020204" pitchFamily="34" charset="0"/>
              <a:buChar char="•"/>
            </a:pPr>
            <a:r>
              <a:rPr lang="en-US" sz="2200" dirty="0">
                <a:solidFill>
                  <a:srgbClr val="0187CC"/>
                </a:solidFill>
                <a:latin typeface="HK Grotesk"/>
              </a:rPr>
              <a:t>Hosts backend Spring Boot APIs</a:t>
            </a:r>
          </a:p>
          <a:p>
            <a:pPr marL="342900" indent="-342900">
              <a:buFont typeface="Arial" panose="020B0604020202020204" pitchFamily="34" charset="0"/>
              <a:buChar char="•"/>
            </a:pPr>
            <a:r>
              <a:rPr lang="en-US" sz="2200" dirty="0">
                <a:solidFill>
                  <a:srgbClr val="0187CC"/>
                </a:solidFill>
                <a:latin typeface="HK Grotesk"/>
              </a:rPr>
              <a:t>Hosts Angular frontend application</a:t>
            </a:r>
          </a:p>
          <a:p>
            <a:pPr marL="342900" indent="-342900">
              <a:buFont typeface="Arial" panose="020B0604020202020204" pitchFamily="34" charset="0"/>
              <a:buChar char="•"/>
            </a:pPr>
            <a:r>
              <a:rPr lang="en-US" sz="2200" dirty="0">
                <a:solidFill>
                  <a:srgbClr val="0187CC"/>
                </a:solidFill>
                <a:latin typeface="HK Grotesk"/>
              </a:rPr>
              <a:t>Supports scalability and cloud deployment</a:t>
            </a:r>
          </a:p>
          <a:p>
            <a:pPr marL="342900" indent="-342900">
              <a:buFont typeface="Arial" panose="020B0604020202020204" pitchFamily="34" charset="0"/>
              <a:buChar char="•"/>
            </a:pPr>
            <a:r>
              <a:rPr lang="en-US" sz="2200" dirty="0">
                <a:solidFill>
                  <a:srgbClr val="0187CC"/>
                </a:solidFill>
                <a:latin typeface="HK Grotesk"/>
              </a:rPr>
              <a:t>Enables easy application management.</a:t>
            </a:r>
            <a:endParaRPr lang="en-US" sz="2800" dirty="0">
              <a:solidFill>
                <a:srgbClr val="0187CC"/>
              </a:solidFill>
              <a:latin typeface="HK Grotesk"/>
            </a:endParaRPr>
          </a:p>
          <a:p>
            <a:endParaRPr lang="en-US" sz="2200" dirty="0">
              <a:solidFill>
                <a:srgbClr val="0187CC"/>
              </a:solidFill>
              <a:latin typeface="HK Grotesk"/>
            </a:endParaRPr>
          </a:p>
        </p:txBody>
      </p:sp>
    </p:spTree>
    <p:extLst>
      <p:ext uri="{BB962C8B-B14F-4D97-AF65-F5344CB8AC3E}">
        <p14:creationId xmlns:p14="http://schemas.microsoft.com/office/powerpoint/2010/main" val="14978448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E59EA-CCB2-D10E-E3C4-5EE6218B455A}"/>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4B0D9338-E563-D734-BA68-10F7DE741392}"/>
              </a:ext>
            </a:extLst>
          </p:cNvPr>
          <p:cNvSpPr/>
          <p:nvPr/>
        </p:nvSpPr>
        <p:spPr>
          <a:xfrm>
            <a:off x="273075" y="211475"/>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Banking Management System</a:t>
            </a:r>
          </a:p>
        </p:txBody>
      </p:sp>
      <p:pic>
        <p:nvPicPr>
          <p:cNvPr id="2" name="Picture 1" descr="Logo&#10;&#10;Description automatically generated">
            <a:extLst>
              <a:ext uri="{FF2B5EF4-FFF2-40B4-BE49-F238E27FC236}">
                <a16:creationId xmlns:a16="http://schemas.microsoft.com/office/drawing/2014/main" id="{34364A16-3039-8C5C-BBAC-FB980655C0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C866D4EC-E46B-1D60-D149-78181F987FA0}"/>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9CF43DA5-EBD8-2106-7F2E-6A439190F14D}"/>
              </a:ext>
            </a:extLst>
          </p:cNvPr>
          <p:cNvSpPr>
            <a:spLocks noGrp="1"/>
          </p:cNvSpPr>
          <p:nvPr>
            <p:ph type="sldNum" sz="quarter" idx="12"/>
          </p:nvPr>
        </p:nvSpPr>
        <p:spPr/>
        <p:txBody>
          <a:bodyPr/>
          <a:lstStyle/>
          <a:p>
            <a:fld id="{C8F35010-364B-470B-BB6C-DCBBE63D2E54}" type="slidenum">
              <a:rPr lang="en-US" smtClean="0">
                <a:solidFill>
                  <a:schemeClr val="tx1"/>
                </a:solidFill>
              </a:rPr>
              <a:t>12</a:t>
            </a:fld>
            <a:endParaRPr lang="en-US" dirty="0">
              <a:solidFill>
                <a:schemeClr val="tx1"/>
              </a:solidFill>
            </a:endParaRPr>
          </a:p>
        </p:txBody>
      </p:sp>
      <p:sp>
        <p:nvSpPr>
          <p:cNvPr id="4" name="TextBox 3">
            <a:extLst>
              <a:ext uri="{FF2B5EF4-FFF2-40B4-BE49-F238E27FC236}">
                <a16:creationId xmlns:a16="http://schemas.microsoft.com/office/drawing/2014/main" id="{1F752309-D18E-8E9F-6617-6D6071E9FCAE}"/>
              </a:ext>
            </a:extLst>
          </p:cNvPr>
          <p:cNvSpPr txBox="1"/>
          <p:nvPr/>
        </p:nvSpPr>
        <p:spPr>
          <a:xfrm>
            <a:off x="273075" y="971116"/>
            <a:ext cx="11080725" cy="129266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rgbClr val="0187CC"/>
                </a:solidFill>
                <a:latin typeface="HK Grotesk"/>
              </a:rPr>
              <a:t>Login Page:</a:t>
            </a:r>
          </a:p>
          <a:p>
            <a:endParaRPr lang="en-US" sz="2800" dirty="0">
              <a:solidFill>
                <a:srgbClr val="0187CC"/>
              </a:solidFill>
              <a:latin typeface="HK Grotesk"/>
            </a:endParaRPr>
          </a:p>
          <a:p>
            <a:endParaRPr lang="en-US" sz="2200" dirty="0">
              <a:solidFill>
                <a:srgbClr val="0187CC"/>
              </a:solidFill>
              <a:latin typeface="HK Grotesk"/>
            </a:endParaRPr>
          </a:p>
        </p:txBody>
      </p:sp>
      <p:pic>
        <p:nvPicPr>
          <p:cNvPr id="8" name="Picture 7">
            <a:extLst>
              <a:ext uri="{FF2B5EF4-FFF2-40B4-BE49-F238E27FC236}">
                <a16:creationId xmlns:a16="http://schemas.microsoft.com/office/drawing/2014/main" id="{DC5D2211-831F-2971-7982-1BB828BDCF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7018" y="1622322"/>
            <a:ext cx="9615949" cy="4599407"/>
          </a:xfrm>
          <a:prstGeom prst="rect">
            <a:avLst/>
          </a:prstGeom>
        </p:spPr>
      </p:pic>
    </p:spTree>
    <p:extLst>
      <p:ext uri="{BB962C8B-B14F-4D97-AF65-F5344CB8AC3E}">
        <p14:creationId xmlns:p14="http://schemas.microsoft.com/office/powerpoint/2010/main" val="19678074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EE4B4-F532-7F8E-7789-7F1546BFD10D}"/>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5A117026-AAA9-1E0B-7056-D18757643215}"/>
              </a:ext>
            </a:extLst>
          </p:cNvPr>
          <p:cNvSpPr/>
          <p:nvPr/>
        </p:nvSpPr>
        <p:spPr>
          <a:xfrm>
            <a:off x="273075" y="211475"/>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Banking Management System</a:t>
            </a:r>
          </a:p>
        </p:txBody>
      </p:sp>
      <p:pic>
        <p:nvPicPr>
          <p:cNvPr id="2" name="Picture 1" descr="Logo&#10;&#10;Description automatically generated">
            <a:extLst>
              <a:ext uri="{FF2B5EF4-FFF2-40B4-BE49-F238E27FC236}">
                <a16:creationId xmlns:a16="http://schemas.microsoft.com/office/drawing/2014/main" id="{578DA475-427A-C761-09D6-A640F5D1E4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5A1D76AA-8A88-8BF4-4C5B-BF6261860E0C}"/>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0F583DCF-87C7-3D9B-E051-3EF7AE46C0AD}"/>
              </a:ext>
            </a:extLst>
          </p:cNvPr>
          <p:cNvSpPr>
            <a:spLocks noGrp="1"/>
          </p:cNvSpPr>
          <p:nvPr>
            <p:ph type="sldNum" sz="quarter" idx="12"/>
          </p:nvPr>
        </p:nvSpPr>
        <p:spPr/>
        <p:txBody>
          <a:bodyPr/>
          <a:lstStyle/>
          <a:p>
            <a:fld id="{C8F35010-364B-470B-BB6C-DCBBE63D2E54}" type="slidenum">
              <a:rPr lang="en-US" smtClean="0">
                <a:solidFill>
                  <a:schemeClr val="tx1"/>
                </a:solidFill>
              </a:rPr>
              <a:t>13</a:t>
            </a:fld>
            <a:endParaRPr lang="en-US" dirty="0">
              <a:solidFill>
                <a:schemeClr val="tx1"/>
              </a:solidFill>
            </a:endParaRPr>
          </a:p>
        </p:txBody>
      </p:sp>
      <p:sp>
        <p:nvSpPr>
          <p:cNvPr id="4" name="TextBox 3">
            <a:extLst>
              <a:ext uri="{FF2B5EF4-FFF2-40B4-BE49-F238E27FC236}">
                <a16:creationId xmlns:a16="http://schemas.microsoft.com/office/drawing/2014/main" id="{C874F16F-600B-DADF-B1A8-B29E3161E98B}"/>
              </a:ext>
            </a:extLst>
          </p:cNvPr>
          <p:cNvSpPr txBox="1"/>
          <p:nvPr/>
        </p:nvSpPr>
        <p:spPr>
          <a:xfrm>
            <a:off x="273075" y="971116"/>
            <a:ext cx="11080725" cy="129266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rgbClr val="0187CC"/>
                </a:solidFill>
                <a:latin typeface="HK Grotesk"/>
              </a:rPr>
              <a:t> Customer Page:</a:t>
            </a:r>
          </a:p>
          <a:p>
            <a:endParaRPr lang="en-US" sz="2800" dirty="0">
              <a:solidFill>
                <a:srgbClr val="0187CC"/>
              </a:solidFill>
              <a:latin typeface="HK Grotesk"/>
            </a:endParaRPr>
          </a:p>
          <a:p>
            <a:endParaRPr lang="en-US" sz="2200" dirty="0">
              <a:solidFill>
                <a:srgbClr val="0187CC"/>
              </a:solidFill>
              <a:latin typeface="HK Grotesk"/>
            </a:endParaRPr>
          </a:p>
        </p:txBody>
      </p:sp>
      <p:pic>
        <p:nvPicPr>
          <p:cNvPr id="7" name="Picture 6">
            <a:extLst>
              <a:ext uri="{FF2B5EF4-FFF2-40B4-BE49-F238E27FC236}">
                <a16:creationId xmlns:a16="http://schemas.microsoft.com/office/drawing/2014/main" id="{AF8DD661-C51E-7E59-CBD9-F6E535D87C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7123" y="1632154"/>
            <a:ext cx="8524568" cy="4875325"/>
          </a:xfrm>
          <a:prstGeom prst="rect">
            <a:avLst/>
          </a:prstGeom>
        </p:spPr>
      </p:pic>
    </p:spTree>
    <p:extLst>
      <p:ext uri="{BB962C8B-B14F-4D97-AF65-F5344CB8AC3E}">
        <p14:creationId xmlns:p14="http://schemas.microsoft.com/office/powerpoint/2010/main" val="30616135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D32BA-5E2E-3134-5204-334F9EDF8073}"/>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C394D6EA-9B37-1A44-08DE-3E6E3B35A628}"/>
              </a:ext>
            </a:extLst>
          </p:cNvPr>
          <p:cNvSpPr/>
          <p:nvPr/>
        </p:nvSpPr>
        <p:spPr>
          <a:xfrm>
            <a:off x="273075" y="211475"/>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Banking Management System</a:t>
            </a:r>
          </a:p>
        </p:txBody>
      </p:sp>
      <p:pic>
        <p:nvPicPr>
          <p:cNvPr id="2" name="Picture 1" descr="Logo&#10;&#10;Description automatically generated">
            <a:extLst>
              <a:ext uri="{FF2B5EF4-FFF2-40B4-BE49-F238E27FC236}">
                <a16:creationId xmlns:a16="http://schemas.microsoft.com/office/drawing/2014/main" id="{0FA951A9-9704-8305-6918-DDE4A762E7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EE46AD82-A14A-B0F5-B12B-5DCA1F54F0FA}"/>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D8B03594-00EF-A49B-3AB7-F9B16D50FAFB}"/>
              </a:ext>
            </a:extLst>
          </p:cNvPr>
          <p:cNvSpPr>
            <a:spLocks noGrp="1"/>
          </p:cNvSpPr>
          <p:nvPr>
            <p:ph type="sldNum" sz="quarter" idx="12"/>
          </p:nvPr>
        </p:nvSpPr>
        <p:spPr/>
        <p:txBody>
          <a:bodyPr/>
          <a:lstStyle/>
          <a:p>
            <a:fld id="{C8F35010-364B-470B-BB6C-DCBBE63D2E54}" type="slidenum">
              <a:rPr lang="en-US" smtClean="0">
                <a:solidFill>
                  <a:schemeClr val="tx1"/>
                </a:solidFill>
              </a:rPr>
              <a:t>14</a:t>
            </a:fld>
            <a:endParaRPr lang="en-US" dirty="0">
              <a:solidFill>
                <a:schemeClr val="tx1"/>
              </a:solidFill>
            </a:endParaRPr>
          </a:p>
        </p:txBody>
      </p:sp>
      <p:sp>
        <p:nvSpPr>
          <p:cNvPr id="4" name="TextBox 3">
            <a:extLst>
              <a:ext uri="{FF2B5EF4-FFF2-40B4-BE49-F238E27FC236}">
                <a16:creationId xmlns:a16="http://schemas.microsoft.com/office/drawing/2014/main" id="{703EFA11-6653-32F2-B5D2-E21BF32AF6AA}"/>
              </a:ext>
            </a:extLst>
          </p:cNvPr>
          <p:cNvSpPr txBox="1"/>
          <p:nvPr/>
        </p:nvSpPr>
        <p:spPr>
          <a:xfrm>
            <a:off x="273075" y="971116"/>
            <a:ext cx="11080725" cy="129266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rgbClr val="0187CC"/>
                </a:solidFill>
                <a:latin typeface="HK Grotesk"/>
              </a:rPr>
              <a:t>Transaction Page:</a:t>
            </a:r>
          </a:p>
          <a:p>
            <a:endParaRPr lang="en-US" sz="2800" dirty="0">
              <a:solidFill>
                <a:srgbClr val="0187CC"/>
              </a:solidFill>
              <a:latin typeface="HK Grotesk"/>
            </a:endParaRPr>
          </a:p>
          <a:p>
            <a:endParaRPr lang="en-US" sz="2200" dirty="0">
              <a:solidFill>
                <a:srgbClr val="0187CC"/>
              </a:solidFill>
              <a:latin typeface="HK Grotesk"/>
            </a:endParaRPr>
          </a:p>
        </p:txBody>
      </p:sp>
      <p:pic>
        <p:nvPicPr>
          <p:cNvPr id="8" name="Picture 7">
            <a:extLst>
              <a:ext uri="{FF2B5EF4-FFF2-40B4-BE49-F238E27FC236}">
                <a16:creationId xmlns:a16="http://schemas.microsoft.com/office/drawing/2014/main" id="{3D1C45E2-739C-3236-6C40-B4ACD673A4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46787" y="1573161"/>
            <a:ext cx="8428854" cy="4313724"/>
          </a:xfrm>
          <a:prstGeom prst="rect">
            <a:avLst/>
          </a:prstGeom>
        </p:spPr>
      </p:pic>
    </p:spTree>
    <p:extLst>
      <p:ext uri="{BB962C8B-B14F-4D97-AF65-F5344CB8AC3E}">
        <p14:creationId xmlns:p14="http://schemas.microsoft.com/office/powerpoint/2010/main" val="33670520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DD326-8AFA-4384-1ACB-72FF5B02F5B0}"/>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0CE1C5F0-F5A6-5F5E-AC98-006B580BA4D9}"/>
              </a:ext>
            </a:extLst>
          </p:cNvPr>
          <p:cNvSpPr/>
          <p:nvPr/>
        </p:nvSpPr>
        <p:spPr>
          <a:xfrm>
            <a:off x="273075" y="211475"/>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Banking Management System</a:t>
            </a:r>
          </a:p>
        </p:txBody>
      </p:sp>
      <p:pic>
        <p:nvPicPr>
          <p:cNvPr id="2" name="Picture 1" descr="Logo&#10;&#10;Description automatically generated">
            <a:extLst>
              <a:ext uri="{FF2B5EF4-FFF2-40B4-BE49-F238E27FC236}">
                <a16:creationId xmlns:a16="http://schemas.microsoft.com/office/drawing/2014/main" id="{7B3B721F-3472-7EEE-4D38-0799BE9F16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EBE1FAC8-6868-1832-4B30-932746B81015}"/>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C3930655-2849-72CA-19D4-59FE0D536A3B}"/>
              </a:ext>
            </a:extLst>
          </p:cNvPr>
          <p:cNvSpPr>
            <a:spLocks noGrp="1"/>
          </p:cNvSpPr>
          <p:nvPr>
            <p:ph type="sldNum" sz="quarter" idx="12"/>
          </p:nvPr>
        </p:nvSpPr>
        <p:spPr/>
        <p:txBody>
          <a:bodyPr/>
          <a:lstStyle/>
          <a:p>
            <a:fld id="{C8F35010-364B-470B-BB6C-DCBBE63D2E54}" type="slidenum">
              <a:rPr lang="en-US" smtClean="0">
                <a:solidFill>
                  <a:schemeClr val="tx1"/>
                </a:solidFill>
              </a:rPr>
              <a:t>15</a:t>
            </a:fld>
            <a:endParaRPr lang="en-US" dirty="0">
              <a:solidFill>
                <a:schemeClr val="tx1"/>
              </a:solidFill>
            </a:endParaRPr>
          </a:p>
        </p:txBody>
      </p:sp>
      <p:sp>
        <p:nvSpPr>
          <p:cNvPr id="4" name="TextBox 3">
            <a:extLst>
              <a:ext uri="{FF2B5EF4-FFF2-40B4-BE49-F238E27FC236}">
                <a16:creationId xmlns:a16="http://schemas.microsoft.com/office/drawing/2014/main" id="{12FFF9F4-3495-D8EF-06EF-7EB6E4D0158C}"/>
              </a:ext>
            </a:extLst>
          </p:cNvPr>
          <p:cNvSpPr txBox="1"/>
          <p:nvPr/>
        </p:nvSpPr>
        <p:spPr>
          <a:xfrm>
            <a:off x="273075" y="971116"/>
            <a:ext cx="11080725" cy="129266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rgbClr val="0187CC"/>
                </a:solidFill>
                <a:latin typeface="HK Grotesk"/>
              </a:rPr>
              <a:t>Admin Page:</a:t>
            </a:r>
          </a:p>
          <a:p>
            <a:endParaRPr lang="en-US" sz="2800" dirty="0">
              <a:solidFill>
                <a:srgbClr val="0187CC"/>
              </a:solidFill>
              <a:latin typeface="HK Grotesk"/>
            </a:endParaRPr>
          </a:p>
          <a:p>
            <a:endParaRPr lang="en-US" sz="2200" dirty="0">
              <a:solidFill>
                <a:srgbClr val="0187CC"/>
              </a:solidFill>
              <a:latin typeface="HK Grotesk"/>
            </a:endParaRPr>
          </a:p>
        </p:txBody>
      </p:sp>
      <p:pic>
        <p:nvPicPr>
          <p:cNvPr id="7" name="Picture 6">
            <a:extLst>
              <a:ext uri="{FF2B5EF4-FFF2-40B4-BE49-F238E27FC236}">
                <a16:creationId xmlns:a16="http://schemas.microsoft.com/office/drawing/2014/main" id="{AE58A3FD-904E-8CE3-B71B-8AB7CF3F19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6242" y="1759973"/>
            <a:ext cx="9674713" cy="4326195"/>
          </a:xfrm>
          <a:prstGeom prst="rect">
            <a:avLst/>
          </a:prstGeom>
        </p:spPr>
      </p:pic>
    </p:spTree>
    <p:extLst>
      <p:ext uri="{BB962C8B-B14F-4D97-AF65-F5344CB8AC3E}">
        <p14:creationId xmlns:p14="http://schemas.microsoft.com/office/powerpoint/2010/main" val="39237584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DDBA2-BA5B-4EF9-84D8-F3C838EC3177}"/>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A5D7C86B-736F-9385-393D-DE6D541195B8}"/>
              </a:ext>
            </a:extLst>
          </p:cNvPr>
          <p:cNvSpPr/>
          <p:nvPr/>
        </p:nvSpPr>
        <p:spPr>
          <a:xfrm>
            <a:off x="273075" y="211475"/>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Banking Management System</a:t>
            </a:r>
          </a:p>
        </p:txBody>
      </p:sp>
      <p:pic>
        <p:nvPicPr>
          <p:cNvPr id="2" name="Picture 1" descr="Logo&#10;&#10;Description automatically generated">
            <a:extLst>
              <a:ext uri="{FF2B5EF4-FFF2-40B4-BE49-F238E27FC236}">
                <a16:creationId xmlns:a16="http://schemas.microsoft.com/office/drawing/2014/main" id="{68BAA935-74B3-FAA2-25C2-04E1EC7845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582904E0-2A94-8BD3-38CA-4D3D525E96E8}"/>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D026CCB6-73B7-5C9A-D4C3-6F405E194439}"/>
              </a:ext>
            </a:extLst>
          </p:cNvPr>
          <p:cNvSpPr>
            <a:spLocks noGrp="1"/>
          </p:cNvSpPr>
          <p:nvPr>
            <p:ph type="sldNum" sz="quarter" idx="12"/>
          </p:nvPr>
        </p:nvSpPr>
        <p:spPr/>
        <p:txBody>
          <a:bodyPr/>
          <a:lstStyle/>
          <a:p>
            <a:fld id="{C8F35010-364B-470B-BB6C-DCBBE63D2E54}" type="slidenum">
              <a:rPr lang="en-US" smtClean="0">
                <a:solidFill>
                  <a:schemeClr val="tx1"/>
                </a:solidFill>
              </a:rPr>
              <a:t>16</a:t>
            </a:fld>
            <a:endParaRPr lang="en-US" dirty="0">
              <a:solidFill>
                <a:schemeClr val="tx1"/>
              </a:solidFill>
            </a:endParaRPr>
          </a:p>
        </p:txBody>
      </p:sp>
      <p:sp>
        <p:nvSpPr>
          <p:cNvPr id="4" name="TextBox 3">
            <a:extLst>
              <a:ext uri="{FF2B5EF4-FFF2-40B4-BE49-F238E27FC236}">
                <a16:creationId xmlns:a16="http://schemas.microsoft.com/office/drawing/2014/main" id="{EEAC4856-18FC-67A8-C581-4D8FA5326B03}"/>
              </a:ext>
            </a:extLst>
          </p:cNvPr>
          <p:cNvSpPr txBox="1"/>
          <p:nvPr/>
        </p:nvSpPr>
        <p:spPr>
          <a:xfrm>
            <a:off x="273075" y="971116"/>
            <a:ext cx="11080725" cy="129266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rgbClr val="0187CC"/>
                </a:solidFill>
                <a:latin typeface="HK Grotesk"/>
              </a:rPr>
              <a:t>Banking System Data in DB :</a:t>
            </a:r>
          </a:p>
          <a:p>
            <a:endParaRPr lang="en-US" sz="2800" dirty="0">
              <a:solidFill>
                <a:srgbClr val="0187CC"/>
              </a:solidFill>
              <a:latin typeface="HK Grotesk"/>
            </a:endParaRPr>
          </a:p>
          <a:p>
            <a:endParaRPr lang="en-US" sz="2200" dirty="0">
              <a:solidFill>
                <a:srgbClr val="0187CC"/>
              </a:solidFill>
              <a:latin typeface="HK Grotesk"/>
            </a:endParaRPr>
          </a:p>
        </p:txBody>
      </p:sp>
      <p:pic>
        <p:nvPicPr>
          <p:cNvPr id="7" name="Picture 6">
            <a:extLst>
              <a:ext uri="{FF2B5EF4-FFF2-40B4-BE49-F238E27FC236}">
                <a16:creationId xmlns:a16="http://schemas.microsoft.com/office/drawing/2014/main" id="{2BDDFE11-8B41-CB1B-F017-792A0F5E5B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8360" y="1563328"/>
            <a:ext cx="9832259" cy="4874147"/>
          </a:xfrm>
          <a:prstGeom prst="rect">
            <a:avLst/>
          </a:prstGeom>
        </p:spPr>
      </p:pic>
    </p:spTree>
    <p:extLst>
      <p:ext uri="{BB962C8B-B14F-4D97-AF65-F5344CB8AC3E}">
        <p14:creationId xmlns:p14="http://schemas.microsoft.com/office/powerpoint/2010/main" val="4355412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E2483-3815-3604-18BE-5664A5900AA9}"/>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45586F2F-D5FC-F506-D2C3-9AFE186521E1}"/>
              </a:ext>
            </a:extLst>
          </p:cNvPr>
          <p:cNvSpPr/>
          <p:nvPr/>
        </p:nvSpPr>
        <p:spPr>
          <a:xfrm>
            <a:off x="273075" y="211475"/>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Banking Management System</a:t>
            </a:r>
          </a:p>
        </p:txBody>
      </p:sp>
      <p:pic>
        <p:nvPicPr>
          <p:cNvPr id="2" name="Picture 1" descr="Logo&#10;&#10;Description automatically generated">
            <a:extLst>
              <a:ext uri="{FF2B5EF4-FFF2-40B4-BE49-F238E27FC236}">
                <a16:creationId xmlns:a16="http://schemas.microsoft.com/office/drawing/2014/main" id="{8E1D9CE5-91FB-E418-FFC2-5522F5904E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E9E5E17B-99A8-30BD-2BF5-2AD802C8199D}"/>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41198E4D-5C57-A6EF-0A14-D1B90BE4C299}"/>
              </a:ext>
            </a:extLst>
          </p:cNvPr>
          <p:cNvSpPr>
            <a:spLocks noGrp="1"/>
          </p:cNvSpPr>
          <p:nvPr>
            <p:ph type="sldNum" sz="quarter" idx="12"/>
          </p:nvPr>
        </p:nvSpPr>
        <p:spPr/>
        <p:txBody>
          <a:bodyPr/>
          <a:lstStyle/>
          <a:p>
            <a:fld id="{C8F35010-364B-470B-BB6C-DCBBE63D2E54}" type="slidenum">
              <a:rPr lang="en-US" smtClean="0">
                <a:solidFill>
                  <a:schemeClr val="tx1"/>
                </a:solidFill>
              </a:rPr>
              <a:t>17</a:t>
            </a:fld>
            <a:endParaRPr lang="en-US" dirty="0">
              <a:solidFill>
                <a:schemeClr val="tx1"/>
              </a:solidFill>
            </a:endParaRPr>
          </a:p>
        </p:txBody>
      </p:sp>
      <p:sp>
        <p:nvSpPr>
          <p:cNvPr id="4" name="TextBox 3">
            <a:extLst>
              <a:ext uri="{FF2B5EF4-FFF2-40B4-BE49-F238E27FC236}">
                <a16:creationId xmlns:a16="http://schemas.microsoft.com/office/drawing/2014/main" id="{86215533-A281-6791-9398-7C99C676A8E1}"/>
              </a:ext>
            </a:extLst>
          </p:cNvPr>
          <p:cNvSpPr txBox="1"/>
          <p:nvPr/>
        </p:nvSpPr>
        <p:spPr>
          <a:xfrm>
            <a:off x="273075" y="971116"/>
            <a:ext cx="11080725" cy="129266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rgbClr val="0187CC"/>
                </a:solidFill>
                <a:latin typeface="HK Grotesk"/>
              </a:rPr>
              <a:t>Images created in Docker :</a:t>
            </a:r>
          </a:p>
          <a:p>
            <a:endParaRPr lang="en-US" sz="2800" dirty="0">
              <a:solidFill>
                <a:srgbClr val="0187CC"/>
              </a:solidFill>
              <a:latin typeface="HK Grotesk"/>
            </a:endParaRPr>
          </a:p>
          <a:p>
            <a:endParaRPr lang="en-US" sz="2200" dirty="0">
              <a:solidFill>
                <a:srgbClr val="0187CC"/>
              </a:solidFill>
              <a:latin typeface="HK Grotesk"/>
            </a:endParaRPr>
          </a:p>
        </p:txBody>
      </p:sp>
      <p:pic>
        <p:nvPicPr>
          <p:cNvPr id="10" name="Picture 9">
            <a:extLst>
              <a:ext uri="{FF2B5EF4-FFF2-40B4-BE49-F238E27FC236}">
                <a16:creationId xmlns:a16="http://schemas.microsoft.com/office/drawing/2014/main" id="{8D752A46-7099-421D-B51B-780CE593EF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0645" y="1651819"/>
            <a:ext cx="8790039" cy="4139382"/>
          </a:xfrm>
          <a:prstGeom prst="rect">
            <a:avLst/>
          </a:prstGeom>
        </p:spPr>
      </p:pic>
    </p:spTree>
    <p:extLst>
      <p:ext uri="{BB962C8B-B14F-4D97-AF65-F5344CB8AC3E}">
        <p14:creationId xmlns:p14="http://schemas.microsoft.com/office/powerpoint/2010/main" val="31509301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569391-F43A-FA1B-E67C-1ABB6370C414}"/>
              </a:ext>
            </a:extLst>
          </p:cNvPr>
          <p:cNvSpPr txBox="1"/>
          <p:nvPr/>
        </p:nvSpPr>
        <p:spPr>
          <a:xfrm>
            <a:off x="442452" y="363794"/>
            <a:ext cx="4605235" cy="800219"/>
          </a:xfrm>
          <a:prstGeom prst="rect">
            <a:avLst/>
          </a:prstGeom>
          <a:noFill/>
        </p:spPr>
        <p:txBody>
          <a:bodyPr wrap="none" rtlCol="0">
            <a:spAutoFit/>
          </a:bodyPr>
          <a:lstStyle/>
          <a:p>
            <a:r>
              <a:rPr lang="en-US" sz="2800" b="1" dirty="0">
                <a:solidFill>
                  <a:srgbClr val="0187CC"/>
                </a:solidFill>
                <a:latin typeface="HK Grotesk Bold"/>
              </a:rPr>
              <a:t>Banking Management System</a:t>
            </a:r>
          </a:p>
          <a:p>
            <a:endParaRPr lang="en-IN" dirty="0"/>
          </a:p>
        </p:txBody>
      </p:sp>
      <p:pic>
        <p:nvPicPr>
          <p:cNvPr id="5" name="Picture 4">
            <a:extLst>
              <a:ext uri="{FF2B5EF4-FFF2-40B4-BE49-F238E27FC236}">
                <a16:creationId xmlns:a16="http://schemas.microsoft.com/office/drawing/2014/main" id="{5D2EEFEB-DE35-CC5A-F8A2-58C46BBE4E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6516" y="1799303"/>
            <a:ext cx="9478297" cy="4365524"/>
          </a:xfrm>
          <a:prstGeom prst="rect">
            <a:avLst/>
          </a:prstGeom>
        </p:spPr>
      </p:pic>
      <p:sp>
        <p:nvSpPr>
          <p:cNvPr id="6" name="TextBox 5">
            <a:extLst>
              <a:ext uri="{FF2B5EF4-FFF2-40B4-BE49-F238E27FC236}">
                <a16:creationId xmlns:a16="http://schemas.microsoft.com/office/drawing/2014/main" id="{52703DE4-C8CB-0196-CBD3-1850D8CC593A}"/>
              </a:ext>
            </a:extLst>
          </p:cNvPr>
          <p:cNvSpPr txBox="1"/>
          <p:nvPr/>
        </p:nvSpPr>
        <p:spPr>
          <a:xfrm>
            <a:off x="953728" y="865636"/>
            <a:ext cx="11238271" cy="369332"/>
          </a:xfrm>
          <a:prstGeom prst="rect">
            <a:avLst/>
          </a:prstGeom>
          <a:noFill/>
        </p:spPr>
        <p:txBody>
          <a:bodyPr wrap="square" rtlCol="0">
            <a:spAutoFit/>
          </a:bodyPr>
          <a:lstStyle/>
          <a:p>
            <a:r>
              <a:rPr lang="en-US" dirty="0">
                <a:hlinkClick r:id="rId3"/>
              </a:rPr>
              <a:t>GitHub Link:    </a:t>
            </a:r>
            <a:r>
              <a:rPr lang="en-US" dirty="0" err="1">
                <a:hlinkClick r:id="rId3"/>
              </a:rPr>
              <a:t>imamitgouda</a:t>
            </a:r>
            <a:r>
              <a:rPr lang="en-US" dirty="0">
                <a:hlinkClick r:id="rId3"/>
              </a:rPr>
              <a:t>/</a:t>
            </a:r>
            <a:r>
              <a:rPr lang="en-US" dirty="0" err="1">
                <a:hlinkClick r:id="rId3"/>
              </a:rPr>
              <a:t>Banking_System</a:t>
            </a:r>
            <a:r>
              <a:rPr lang="en-US" dirty="0">
                <a:hlinkClick r:id="rId3"/>
              </a:rPr>
              <a:t>: This is a repo for bank management project</a:t>
            </a:r>
            <a:endParaRPr lang="en-IN" dirty="0"/>
          </a:p>
        </p:txBody>
      </p:sp>
    </p:spTree>
    <p:extLst>
      <p:ext uri="{BB962C8B-B14F-4D97-AF65-F5344CB8AC3E}">
        <p14:creationId xmlns:p14="http://schemas.microsoft.com/office/powerpoint/2010/main" val="10572035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AFE7D-C768-CDDE-19CD-3ADB03E6C602}"/>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76081F14-C7BC-9A52-2A85-ED4943AE69FC}"/>
              </a:ext>
            </a:extLst>
          </p:cNvPr>
          <p:cNvSpPr/>
          <p:nvPr/>
        </p:nvSpPr>
        <p:spPr>
          <a:xfrm>
            <a:off x="273075" y="211475"/>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Banking Management System</a:t>
            </a:r>
          </a:p>
        </p:txBody>
      </p:sp>
      <p:pic>
        <p:nvPicPr>
          <p:cNvPr id="2" name="Picture 1" descr="Logo&#10;&#10;Description automatically generated">
            <a:extLst>
              <a:ext uri="{FF2B5EF4-FFF2-40B4-BE49-F238E27FC236}">
                <a16:creationId xmlns:a16="http://schemas.microsoft.com/office/drawing/2014/main" id="{24372B1C-1665-040F-E632-B15027241B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0C81609B-9C47-89AD-7825-CFC5A6282928}"/>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50F08F1C-D97B-AE64-2058-479919EBFE15}"/>
              </a:ext>
            </a:extLst>
          </p:cNvPr>
          <p:cNvSpPr>
            <a:spLocks noGrp="1"/>
          </p:cNvSpPr>
          <p:nvPr>
            <p:ph type="sldNum" sz="quarter" idx="12"/>
          </p:nvPr>
        </p:nvSpPr>
        <p:spPr/>
        <p:txBody>
          <a:bodyPr/>
          <a:lstStyle/>
          <a:p>
            <a:fld id="{C8F35010-364B-470B-BB6C-DCBBE63D2E54}" type="slidenum">
              <a:rPr lang="en-US" smtClean="0">
                <a:solidFill>
                  <a:schemeClr val="tx1"/>
                </a:solidFill>
              </a:rPr>
              <a:t>19</a:t>
            </a:fld>
            <a:endParaRPr lang="en-US" dirty="0">
              <a:solidFill>
                <a:schemeClr val="tx1"/>
              </a:solidFill>
            </a:endParaRPr>
          </a:p>
        </p:txBody>
      </p:sp>
      <p:sp>
        <p:nvSpPr>
          <p:cNvPr id="4" name="TextBox 3">
            <a:extLst>
              <a:ext uri="{FF2B5EF4-FFF2-40B4-BE49-F238E27FC236}">
                <a16:creationId xmlns:a16="http://schemas.microsoft.com/office/drawing/2014/main" id="{4E4C4354-1B1E-2625-163A-F8750E2EBE57}"/>
              </a:ext>
            </a:extLst>
          </p:cNvPr>
          <p:cNvSpPr txBox="1"/>
          <p:nvPr/>
        </p:nvSpPr>
        <p:spPr>
          <a:xfrm>
            <a:off x="273075" y="971116"/>
            <a:ext cx="11080725" cy="129266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rgbClr val="0187CC"/>
                </a:solidFill>
                <a:latin typeface="HK Grotesk"/>
              </a:rPr>
              <a:t>Created App service in Azure:</a:t>
            </a:r>
          </a:p>
          <a:p>
            <a:endParaRPr lang="en-US" sz="2800" dirty="0">
              <a:solidFill>
                <a:srgbClr val="0187CC"/>
              </a:solidFill>
              <a:latin typeface="HK Grotesk"/>
            </a:endParaRPr>
          </a:p>
          <a:p>
            <a:endParaRPr lang="en-US" sz="2200" dirty="0">
              <a:solidFill>
                <a:srgbClr val="0187CC"/>
              </a:solidFill>
              <a:latin typeface="HK Grotesk"/>
            </a:endParaRPr>
          </a:p>
        </p:txBody>
      </p:sp>
      <p:pic>
        <p:nvPicPr>
          <p:cNvPr id="7" name="Picture 6">
            <a:extLst>
              <a:ext uri="{FF2B5EF4-FFF2-40B4-BE49-F238E27FC236}">
                <a16:creationId xmlns:a16="http://schemas.microsoft.com/office/drawing/2014/main" id="{AEEB0C51-5DEB-5A45-E5BE-2704422874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9703" y="1582994"/>
            <a:ext cx="9783098" cy="4711125"/>
          </a:xfrm>
          <a:prstGeom prst="rect">
            <a:avLst/>
          </a:prstGeom>
        </p:spPr>
      </p:pic>
    </p:spTree>
    <p:extLst>
      <p:ext uri="{BB962C8B-B14F-4D97-AF65-F5344CB8AC3E}">
        <p14:creationId xmlns:p14="http://schemas.microsoft.com/office/powerpoint/2010/main" val="13044982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2973501-5A15-EBBC-4C21-A742366351DE}"/>
              </a:ext>
            </a:extLst>
          </p:cNvPr>
          <p:cNvPicPr>
            <a:picLocks noChangeAspect="1"/>
          </p:cNvPicPr>
          <p:nvPr/>
        </p:nvPicPr>
        <p:blipFill>
          <a:blip r:embed="rId3"/>
          <a:stretch>
            <a:fillRect/>
          </a:stretch>
        </p:blipFill>
        <p:spPr>
          <a:xfrm>
            <a:off x="914400" y="1238865"/>
            <a:ext cx="10255045" cy="4857135"/>
          </a:xfrm>
          <a:prstGeom prst="rect">
            <a:avLst/>
          </a:prstGeom>
        </p:spPr>
      </p:pic>
      <p:sp>
        <p:nvSpPr>
          <p:cNvPr id="6" name="TextBox 5">
            <a:extLst>
              <a:ext uri="{FF2B5EF4-FFF2-40B4-BE49-F238E27FC236}">
                <a16:creationId xmlns:a16="http://schemas.microsoft.com/office/drawing/2014/main" id="{02A8590D-CDC7-E15F-B7CF-1E7481DF8E61}"/>
              </a:ext>
            </a:extLst>
          </p:cNvPr>
          <p:cNvSpPr txBox="1"/>
          <p:nvPr/>
        </p:nvSpPr>
        <p:spPr>
          <a:xfrm>
            <a:off x="550606" y="110302"/>
            <a:ext cx="6096000" cy="584775"/>
          </a:xfrm>
          <a:prstGeom prst="rect">
            <a:avLst/>
          </a:prstGeom>
          <a:noFill/>
        </p:spPr>
        <p:txBody>
          <a:bodyPr wrap="square">
            <a:spAutoFit/>
          </a:bodyPr>
          <a:lstStyle/>
          <a:p>
            <a:pPr>
              <a:spcBef>
                <a:spcPct val="0"/>
              </a:spcBef>
            </a:pPr>
            <a:r>
              <a:rPr lang="en-US" sz="3200" b="1" dirty="0">
                <a:solidFill>
                  <a:srgbClr val="0187CC"/>
                </a:solidFill>
                <a:latin typeface="HK Grotesk Bold"/>
              </a:rPr>
              <a:t>Banking Management System</a:t>
            </a:r>
          </a:p>
        </p:txBody>
      </p:sp>
      <p:pic>
        <p:nvPicPr>
          <p:cNvPr id="7" name="Picture 6" descr="Logo&#10;&#10;Description automatically generated">
            <a:extLst>
              <a:ext uri="{FF2B5EF4-FFF2-40B4-BE49-F238E27FC236}">
                <a16:creationId xmlns:a16="http://schemas.microsoft.com/office/drawing/2014/main" id="{C3B40E4A-B46D-FAAF-7211-4533B24267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11" name="TextBox 10">
            <a:extLst>
              <a:ext uri="{FF2B5EF4-FFF2-40B4-BE49-F238E27FC236}">
                <a16:creationId xmlns:a16="http://schemas.microsoft.com/office/drawing/2014/main" id="{895C7A59-D999-530F-AFEB-7338CE0EAADF}"/>
              </a:ext>
            </a:extLst>
          </p:cNvPr>
          <p:cNvSpPr txBox="1"/>
          <p:nvPr/>
        </p:nvSpPr>
        <p:spPr>
          <a:xfrm>
            <a:off x="5289755" y="6326907"/>
            <a:ext cx="6096000" cy="348813"/>
          </a:xfrm>
          <a:prstGeom prst="rect">
            <a:avLst/>
          </a:prstGeom>
          <a:noFill/>
        </p:spPr>
        <p:txBody>
          <a:bodyPr wrap="square">
            <a:spAutoFit/>
          </a:bodyPr>
          <a:lstStyle/>
          <a:p>
            <a:pPr algn="r">
              <a:lnSpc>
                <a:spcPts val="1960"/>
              </a:lnSpc>
              <a:spcBef>
                <a:spcPct val="0"/>
              </a:spcBef>
            </a:pPr>
            <a:r>
              <a:rPr lang="en-US" sz="1800" spc="140" dirty="0">
                <a:solidFill>
                  <a:srgbClr val="000000"/>
                </a:solidFill>
                <a:latin typeface="HK Grotesk Light"/>
              </a:rPr>
              <a:t>2024 - RPS Consulting all rights reserved</a:t>
            </a:r>
          </a:p>
        </p:txBody>
      </p:sp>
      <p:sp>
        <p:nvSpPr>
          <p:cNvPr id="4" name="TextBox 3">
            <a:extLst>
              <a:ext uri="{FF2B5EF4-FFF2-40B4-BE49-F238E27FC236}">
                <a16:creationId xmlns:a16="http://schemas.microsoft.com/office/drawing/2014/main" id="{879D5B50-7CAD-F964-C1C8-98444E333246}"/>
              </a:ext>
            </a:extLst>
          </p:cNvPr>
          <p:cNvSpPr txBox="1"/>
          <p:nvPr/>
        </p:nvSpPr>
        <p:spPr>
          <a:xfrm>
            <a:off x="825909" y="762000"/>
            <a:ext cx="2851355" cy="369332"/>
          </a:xfrm>
          <a:prstGeom prst="rect">
            <a:avLst/>
          </a:prstGeom>
          <a:noFill/>
        </p:spPr>
        <p:txBody>
          <a:bodyPr wrap="square" rtlCol="0">
            <a:spAutoFit/>
          </a:bodyPr>
          <a:lstStyle/>
          <a:p>
            <a:r>
              <a:rPr lang="en-IN" dirty="0">
                <a:hlinkClick r:id="rId5"/>
              </a:rPr>
              <a:t>Link : Swagger UI</a:t>
            </a:r>
            <a:endParaRPr lang="en-IN" dirty="0"/>
          </a:p>
        </p:txBody>
      </p:sp>
    </p:spTree>
    <p:extLst>
      <p:ext uri="{BB962C8B-B14F-4D97-AF65-F5344CB8AC3E}">
        <p14:creationId xmlns:p14="http://schemas.microsoft.com/office/powerpoint/2010/main" val="42377472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15022-694F-BFE2-13A0-0FCF482F4162}"/>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FB0FB813-F2EC-E75B-A22C-36F8EB098567}"/>
              </a:ext>
            </a:extLst>
          </p:cNvPr>
          <p:cNvSpPr/>
          <p:nvPr/>
        </p:nvSpPr>
        <p:spPr>
          <a:xfrm>
            <a:off x="273075" y="211475"/>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Employee Management System</a:t>
            </a:r>
          </a:p>
        </p:txBody>
      </p:sp>
      <p:pic>
        <p:nvPicPr>
          <p:cNvPr id="2" name="Picture 1" descr="Logo&#10;&#10;Description automatically generated">
            <a:extLst>
              <a:ext uri="{FF2B5EF4-FFF2-40B4-BE49-F238E27FC236}">
                <a16:creationId xmlns:a16="http://schemas.microsoft.com/office/drawing/2014/main" id="{9D8BC4B7-1901-1333-68DC-537DD6CE3F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6308F7AB-DCDF-A51D-E9BE-9FC906BD2901}"/>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482D545A-F57B-E26C-9D5A-50469152F71B}"/>
              </a:ext>
            </a:extLst>
          </p:cNvPr>
          <p:cNvSpPr>
            <a:spLocks noGrp="1"/>
          </p:cNvSpPr>
          <p:nvPr>
            <p:ph type="sldNum" sz="quarter" idx="12"/>
          </p:nvPr>
        </p:nvSpPr>
        <p:spPr/>
        <p:txBody>
          <a:bodyPr/>
          <a:lstStyle/>
          <a:p>
            <a:fld id="{C8F35010-364B-470B-BB6C-DCBBE63D2E54}" type="slidenum">
              <a:rPr lang="en-US" smtClean="0">
                <a:solidFill>
                  <a:schemeClr val="tx1"/>
                </a:solidFill>
              </a:rPr>
              <a:t>21</a:t>
            </a:fld>
            <a:endParaRPr lang="en-US" dirty="0">
              <a:solidFill>
                <a:schemeClr val="tx1"/>
              </a:solidFill>
            </a:endParaRPr>
          </a:p>
        </p:txBody>
      </p:sp>
      <p:sp>
        <p:nvSpPr>
          <p:cNvPr id="4" name="TextBox 3">
            <a:extLst>
              <a:ext uri="{FF2B5EF4-FFF2-40B4-BE49-F238E27FC236}">
                <a16:creationId xmlns:a16="http://schemas.microsoft.com/office/drawing/2014/main" id="{3384E45A-9345-7969-C5B3-41CA16693DE0}"/>
              </a:ext>
            </a:extLst>
          </p:cNvPr>
          <p:cNvSpPr txBox="1"/>
          <p:nvPr/>
        </p:nvSpPr>
        <p:spPr>
          <a:xfrm>
            <a:off x="273075" y="971116"/>
            <a:ext cx="11080725" cy="467820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rgbClr val="0187CC"/>
                </a:solidFill>
                <a:latin typeface="HK Grotesk"/>
              </a:rPr>
              <a:t>Conclusion:</a:t>
            </a:r>
          </a:p>
          <a:p>
            <a:endParaRPr lang="en-US" sz="2800" dirty="0">
              <a:solidFill>
                <a:srgbClr val="0187CC"/>
              </a:solidFill>
              <a:latin typeface="HK Grotesk"/>
            </a:endParaRPr>
          </a:p>
          <a:p>
            <a:pPr marL="342900" indent="-342900">
              <a:buFont typeface="Arial" panose="020B0604020202020204" pitchFamily="34" charset="0"/>
              <a:buChar char="•"/>
            </a:pPr>
            <a:r>
              <a:rPr lang="en-US" sz="2200" dirty="0">
                <a:solidFill>
                  <a:srgbClr val="0187CC"/>
                </a:solidFill>
                <a:latin typeface="HK Grotesk"/>
              </a:rPr>
              <a:t>The Banking Account Management System is designed to provide a simple and effective solution for managing banking activities in a digital environment. It helps in reducing manual effort and minimizing errors by automating account management and transaction processes. The system ensures secure storage of customer data and provides easy access to account details and transaction history.</a:t>
            </a:r>
          </a:p>
          <a:p>
            <a:pPr marL="342900" indent="-342900">
              <a:buFont typeface="Arial" panose="020B0604020202020204" pitchFamily="34" charset="0"/>
              <a:buChar char="•"/>
            </a:pPr>
            <a:endParaRPr lang="en-US" sz="2200" dirty="0">
              <a:solidFill>
                <a:srgbClr val="0187CC"/>
              </a:solidFill>
              <a:latin typeface="HK Grotesk"/>
            </a:endParaRPr>
          </a:p>
          <a:p>
            <a:pPr marL="342900" indent="-342900">
              <a:buFont typeface="Arial" panose="020B0604020202020204" pitchFamily="34" charset="0"/>
              <a:buChar char="•"/>
            </a:pPr>
            <a:r>
              <a:rPr lang="en-US" sz="2200" dirty="0">
                <a:solidFill>
                  <a:srgbClr val="0187CC"/>
                </a:solidFill>
                <a:latin typeface="HK Grotesk"/>
              </a:rPr>
              <a:t>With a user-friendly interface and structured workflow, the application improves the overall banking experience for both administrators and users. The project demonstrates how web-based technologies can be used to build reliable and scalable banking systems. In the future, the system can be enhanced by adding features such as fund transfers, online payments, and improved security mechanisms.</a:t>
            </a:r>
          </a:p>
        </p:txBody>
      </p:sp>
    </p:spTree>
    <p:extLst>
      <p:ext uri="{BB962C8B-B14F-4D97-AF65-F5344CB8AC3E}">
        <p14:creationId xmlns:p14="http://schemas.microsoft.com/office/powerpoint/2010/main" val="42945253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3505</TotalTime>
  <Words>1234</Words>
  <Application>Microsoft Office PowerPoint</Application>
  <PresentationFormat>Widescreen</PresentationFormat>
  <Paragraphs>175</Paragraphs>
  <Slides>21</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HK Grotesk</vt:lpstr>
      <vt:lpstr>HK Grotesk Bold</vt:lpstr>
      <vt:lpstr>HK Grotesk Light</vt:lpstr>
      <vt:lpstr>HK Grotesk Light Bold</vt: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Satish M</dc:creator>
  <cp:lastModifiedBy>58687 - Amitkumar Gouda</cp:lastModifiedBy>
  <cp:revision>24</cp:revision>
  <cp:lastPrinted>2026-02-08T15:44:32Z</cp:lastPrinted>
  <dcterms:created xsi:type="dcterms:W3CDTF">2024-05-04T13:11:57Z</dcterms:created>
  <dcterms:modified xsi:type="dcterms:W3CDTF">2026-02-10T05:11:55Z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80f486e-1d0b-4fd6-a73f-04d94048a140_Enabled">
    <vt:lpwstr>true</vt:lpwstr>
  </property>
  <property fmtid="{D5CDD505-2E9C-101B-9397-08002B2CF9AE}" pid="3" name="MSIP_Label_e80f486e-1d0b-4fd6-a73f-04d94048a140_SetDate">
    <vt:lpwstr>2026-02-04T04:06:58Z</vt:lpwstr>
  </property>
  <property fmtid="{D5CDD505-2E9C-101B-9397-08002B2CF9AE}" pid="4" name="MSIP_Label_e80f486e-1d0b-4fd6-a73f-04d94048a140_Method">
    <vt:lpwstr>Standard</vt:lpwstr>
  </property>
  <property fmtid="{D5CDD505-2E9C-101B-9397-08002B2CF9AE}" pid="5" name="MSIP_Label_e80f486e-1d0b-4fd6-a73f-04d94048a140_Name">
    <vt:lpwstr>General - RPS Data</vt:lpwstr>
  </property>
  <property fmtid="{D5CDD505-2E9C-101B-9397-08002B2CF9AE}" pid="6" name="MSIP_Label_e80f486e-1d0b-4fd6-a73f-04d94048a140_SiteId">
    <vt:lpwstr>6565c732-1653-4ffe-b9d3-80a4f1c0c25d</vt:lpwstr>
  </property>
  <property fmtid="{D5CDD505-2E9C-101B-9397-08002B2CF9AE}" pid="7" name="MSIP_Label_e80f486e-1d0b-4fd6-a73f-04d94048a140_ActionId">
    <vt:lpwstr>0c3cc09a-e54e-4ae4-a9fa-efa3f9d629ce</vt:lpwstr>
  </property>
  <property fmtid="{D5CDD505-2E9C-101B-9397-08002B2CF9AE}" pid="8" name="MSIP_Label_e80f486e-1d0b-4fd6-a73f-04d94048a140_ContentBits">
    <vt:lpwstr>2</vt:lpwstr>
  </property>
  <property fmtid="{D5CDD505-2E9C-101B-9397-08002B2CF9AE}" pid="9" name="MSIP_Label_e80f486e-1d0b-4fd6-a73f-04d94048a140_Tag">
    <vt:lpwstr>10, 3, 0, 1</vt:lpwstr>
  </property>
  <property fmtid="{D5CDD505-2E9C-101B-9397-08002B2CF9AE}" pid="10" name="ClassificationContentMarkingFooterLocations">
    <vt:lpwstr>Office Theme:8</vt:lpwstr>
  </property>
  <property fmtid="{D5CDD505-2E9C-101B-9397-08002B2CF9AE}" pid="11" name="ClassificationContentMarkingFooterText">
    <vt:lpwstr>General - RPS Data</vt:lpwstr>
  </property>
</Properties>
</file>